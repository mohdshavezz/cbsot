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d59b2f6-79d2-400b-b0ac-f315574583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" y="342900"/>
            <a:ext cx="8220456" cy="6199632"/>
          </a:xfrm>
          <a:prstGeom prst="rect">
            <a:avLst/>
          </a:prstGeom>
          <a:solidFill>
            <a:srgbClr val="FFFFFF"/>
          </a:solidFill>
          <a:ln w="10160">
            <a:solidFill>
              <a:srgbClr val="E84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tm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393192"/>
            <a:ext cx="1371600" cy="1447800"/>
          </a:xfrm>
          <a:prstGeom prst="rect">
            <a:avLst/>
          </a:prstGeom>
        </p:spPr>
      </p:pic>
      <p:pic>
        <p:nvPicPr>
          <p:cNvPr id="5" name="Picture 4" descr="coding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5650992"/>
            <a:ext cx="1719072" cy="6876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" y="658368"/>
            <a:ext cx="5806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B1FB4"/>
                </a:solidFill>
                <a:latin typeface="Courier New"/>
              </a:defRPr>
            </a:pPr>
            <a:r>
              <a:t>HTML Content Essentials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1225296"/>
            <a:ext cx="531081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5A5A"/>
                </a:solidFill>
                <a:latin typeface="Arial"/>
              </a:defRPr>
            </a:pPr>
            <a:r>
              <a:rPr sz="1400" dirty="0"/>
              <a:t>Practical HTML elements for media, embeds, symbols and 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91640"/>
            <a:ext cx="6389914" cy="200824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rPr dirty="0"/>
              <a:t>➤  Favicon and page-level browser details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rPr dirty="0"/>
              <a:t>➤  Marquee and tooltip concepts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rPr dirty="0"/>
              <a:t>➤  </a:t>
            </a:r>
            <a:r>
              <a:rPr dirty="0" err="1"/>
              <a:t>iframe</a:t>
            </a:r>
            <a:r>
              <a:rPr dirty="0"/>
              <a:t>, embed and external content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rPr dirty="0"/>
              <a:t>➤  Audio, video, maps and PDF files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rPr dirty="0"/>
              <a:t>➤  HTML symbols / character entities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rPr dirty="0"/>
              <a:t>➤  Forms and common input 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6434" y="4829906"/>
            <a:ext cx="6814566" cy="530352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23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784B"/>
                </a:solidFill>
                <a:latin typeface="Arial"/>
              </a:defRPr>
            </a:pPr>
            <a:r>
              <a:rPr sz="1400" dirty="0"/>
              <a:t>Goal: understand what each element does, when to use it, and its modern alternative.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d59b2f6-79d2-400b-b0ac-f315574583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" y="342900"/>
            <a:ext cx="8220456" cy="6199632"/>
          </a:xfrm>
          <a:prstGeom prst="rect">
            <a:avLst/>
          </a:prstGeom>
          <a:solidFill>
            <a:srgbClr val="FFFFFF"/>
          </a:solidFill>
          <a:ln w="10160">
            <a:solidFill>
              <a:srgbClr val="E84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tm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393192"/>
            <a:ext cx="1371600" cy="1447800"/>
          </a:xfrm>
          <a:prstGeom prst="rect">
            <a:avLst/>
          </a:prstGeom>
        </p:spPr>
      </p:pic>
      <p:pic>
        <p:nvPicPr>
          <p:cNvPr id="5" name="Picture 4" descr="coding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5650992"/>
            <a:ext cx="1719072" cy="6876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" y="658368"/>
            <a:ext cx="5806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B1FB4"/>
                </a:solidFill>
                <a:latin typeface="Courier New"/>
              </a:defRPr>
            </a:pPr>
            <a:r>
              <a:t>Favicon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1225296"/>
            <a:ext cx="56156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5A5A"/>
                </a:solidFill>
                <a:latin typeface="Arial"/>
              </a:defRPr>
            </a:pPr>
            <a:r>
              <a:rPr sz="1400" dirty="0"/>
              <a:t>The small icon shown in the browser tab, bookmarks and browser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1806577"/>
            <a:ext cx="7008114" cy="1287034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rPr dirty="0"/>
              <a:t>➤  A favicon gives your website a recognizable visual identity.</a:t>
            </a:r>
          </a:p>
          <a:p>
            <a:pPr>
              <a:spcAft>
                <a:spcPts val="9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rPr dirty="0"/>
              <a:t>➤  Usually stored as favicon.ico, but PNG/SVG formats are also common.</a:t>
            </a:r>
          </a:p>
          <a:p>
            <a:pPr>
              <a:spcAft>
                <a:spcPts val="9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rPr dirty="0"/>
              <a:t>➤  Place the &lt;link&gt; element inside &lt;head&gt;.</a:t>
            </a:r>
          </a:p>
          <a:p>
            <a:pPr>
              <a:spcAft>
                <a:spcPts val="9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rPr dirty="0"/>
              <a:t>➤  Use a square image and keep the design simple at small sizes.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90037" y="3698205"/>
            <a:ext cx="6163926" cy="635506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rtlCol="0" anchor="ctr"/>
          <a:lstStyle/>
          <a:p>
            <a:pPr algn="ctr">
              <a:defRPr sz="1000">
                <a:solidFill>
                  <a:srgbClr val="191919"/>
                </a:solidFill>
                <a:latin typeface="Courier New"/>
              </a:defRPr>
            </a:pPr>
            <a:r>
              <a:rPr sz="1400" dirty="0"/>
              <a:t>&lt;head&gt;  &lt;link </a:t>
            </a:r>
            <a:r>
              <a:rPr sz="1400" dirty="0" err="1"/>
              <a:t>rel</a:t>
            </a:r>
            <a:r>
              <a:rPr sz="1400" dirty="0"/>
              <a:t>="icon" </a:t>
            </a:r>
            <a:r>
              <a:rPr sz="1400" dirty="0" err="1"/>
              <a:t>href</a:t>
            </a:r>
            <a:r>
              <a:rPr sz="1400" dirty="0"/>
              <a:t>="/favicon.ico"&gt;</a:t>
            </a:r>
            <a:r>
              <a:rPr lang="en-US" sz="1400" dirty="0"/>
              <a:t>  </a:t>
            </a:r>
            <a:r>
              <a:rPr sz="1400" dirty="0"/>
              <a:t>&lt;/head&gt;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727175"/>
            <a:ext cx="6400800" cy="530352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23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784B"/>
                </a:solidFill>
                <a:latin typeface="Arial"/>
              </a:defRPr>
            </a:pPr>
            <a:r>
              <a:rPr sz="1400" dirty="0"/>
              <a:t>Tip: SVG favicons are useful when you want a scalable, crisp icon.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d59b2f6-79d2-400b-b0ac-f315574583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" y="342900"/>
            <a:ext cx="8220456" cy="6199632"/>
          </a:xfrm>
          <a:prstGeom prst="rect">
            <a:avLst/>
          </a:prstGeom>
          <a:solidFill>
            <a:srgbClr val="FFFFFF"/>
          </a:solidFill>
          <a:ln w="10160">
            <a:solidFill>
              <a:srgbClr val="E84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tm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393192"/>
            <a:ext cx="1371600" cy="1447800"/>
          </a:xfrm>
          <a:prstGeom prst="rect">
            <a:avLst/>
          </a:prstGeom>
        </p:spPr>
      </p:pic>
      <p:pic>
        <p:nvPicPr>
          <p:cNvPr id="5" name="Picture 4" descr="coding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5650992"/>
            <a:ext cx="1719072" cy="6876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" y="658368"/>
            <a:ext cx="5806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B1FB4"/>
                </a:solidFill>
                <a:latin typeface="Courier New"/>
              </a:defRPr>
            </a:pPr>
            <a:r>
              <a:t>Marquee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1225296"/>
            <a:ext cx="316945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5A5A"/>
                </a:solidFill>
                <a:latin typeface="Arial"/>
              </a:defRPr>
            </a:pPr>
            <a:r>
              <a:rPr sz="1400" dirty="0"/>
              <a:t>Scrolling text/content across the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1809737"/>
            <a:ext cx="6763947" cy="1469633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rPr dirty="0"/>
              <a:t>➤  The &lt;marquee&gt; element creates scrolling content.</a:t>
            </a:r>
          </a:p>
          <a:p>
            <a:pPr>
              <a:spcAft>
                <a:spcPts val="9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rPr dirty="0"/>
              <a:t>➤  It is easy to demonstrate, but it is obsolete/deprecated in modern HTML.</a:t>
            </a:r>
          </a:p>
          <a:p>
            <a:pPr>
              <a:spcAft>
                <a:spcPts val="9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rPr dirty="0"/>
              <a:t>➤  It can create accessibility and usability problems because moving content is harder to read.</a:t>
            </a:r>
          </a:p>
          <a:p>
            <a:pPr>
              <a:spcAft>
                <a:spcPts val="9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rPr dirty="0"/>
              <a:t>➤  Prefer CSS animations when movement is genuinely useful.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" y="3794074"/>
            <a:ext cx="6903720" cy="563728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rtlCol="0" anchor="ctr"/>
          <a:lstStyle/>
          <a:p>
            <a:pPr algn="ctr">
              <a:defRPr sz="1000">
                <a:solidFill>
                  <a:srgbClr val="191919"/>
                </a:solidFill>
                <a:latin typeface="Courier New"/>
              </a:defRPr>
            </a:pPr>
            <a:r>
              <a:rPr sz="1400" dirty="0"/>
              <a:t>&lt;marquee direction="left"&gt;  Welcome to our website!</a:t>
            </a:r>
            <a:r>
              <a:rPr lang="en-US" sz="1400" dirty="0"/>
              <a:t> </a:t>
            </a:r>
            <a:r>
              <a:rPr sz="1400" dirty="0"/>
              <a:t>&lt;/marquee&gt;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1348" y="4888992"/>
            <a:ext cx="5852160" cy="530352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23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784B"/>
                </a:solidFill>
                <a:latin typeface="Arial"/>
              </a:defRPr>
            </a:pPr>
            <a:r>
              <a:rPr sz="1400" dirty="0"/>
              <a:t>Interview point: know the tag, but also know that modern websites should use CSS instead.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d59b2f6-79d2-400b-b0ac-f315574583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" y="342900"/>
            <a:ext cx="8220456" cy="6199632"/>
          </a:xfrm>
          <a:prstGeom prst="rect">
            <a:avLst/>
          </a:prstGeom>
          <a:solidFill>
            <a:srgbClr val="FFFFFF"/>
          </a:solidFill>
          <a:ln w="10160">
            <a:solidFill>
              <a:srgbClr val="E84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tm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393192"/>
            <a:ext cx="1371600" cy="1447800"/>
          </a:xfrm>
          <a:prstGeom prst="rect">
            <a:avLst/>
          </a:prstGeom>
        </p:spPr>
      </p:pic>
      <p:pic>
        <p:nvPicPr>
          <p:cNvPr id="5" name="Picture 4" descr="coding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5650992"/>
            <a:ext cx="1719072" cy="6876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" y="658368"/>
            <a:ext cx="5806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B1FB4"/>
                </a:solidFill>
                <a:latin typeface="Courier New"/>
              </a:defRPr>
            </a:pPr>
            <a:r>
              <a:t>Tooltip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1225296"/>
            <a:ext cx="52373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5A5A"/>
                </a:solidFill>
                <a:latin typeface="Arial"/>
              </a:defRPr>
            </a:pPr>
            <a:r>
              <a:rPr sz="1400" dirty="0"/>
              <a:t>Show helpful information when the user hovers over an element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16467"/>
            <a:ext cx="7326086" cy="125418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rPr dirty="0"/>
              <a:t>➤  The simplest native tooltip uses the title attribute.</a:t>
            </a:r>
          </a:p>
          <a:p>
            <a:pPr>
              <a:spcAft>
                <a:spcPts val="9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rPr dirty="0"/>
              <a:t>➤  It works on many elements such as links, buttons and images.</a:t>
            </a:r>
          </a:p>
          <a:p>
            <a:pPr>
              <a:spcAft>
                <a:spcPts val="9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rPr dirty="0"/>
              <a:t>➤  For rich, styled or interactive tooltips, use CSS/JavaScript or an accessible component.</a:t>
            </a:r>
          </a:p>
          <a:p>
            <a:pPr>
              <a:spcAft>
                <a:spcPts val="9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rPr dirty="0"/>
              <a:t>➤  Do not put essential information only inside a hover tooltip.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67543" y="3512058"/>
            <a:ext cx="5852160" cy="530352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rtlCol="0" anchor="ctr"/>
          <a:lstStyle/>
          <a:p>
            <a:pPr algn="ctr">
              <a:defRPr sz="1000">
                <a:solidFill>
                  <a:srgbClr val="191919"/>
                </a:solidFill>
                <a:latin typeface="Courier New"/>
              </a:defRPr>
            </a:pPr>
            <a:r>
              <a:rPr sz="1400" dirty="0"/>
              <a:t>&lt;button title="Save your changes"&gt; Save</a:t>
            </a:r>
            <a:r>
              <a:rPr lang="en-US" sz="1400" dirty="0"/>
              <a:t> </a:t>
            </a:r>
            <a:r>
              <a:rPr sz="1400" dirty="0"/>
              <a:t>&lt;/button&gt;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67543" y="4710532"/>
            <a:ext cx="5852160" cy="530352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23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784B"/>
                </a:solidFill>
                <a:latin typeface="Arial"/>
              </a:defRPr>
            </a:pPr>
            <a:r>
              <a:rPr sz="1400" dirty="0"/>
              <a:t>Remember: title is a quick native tooltip, not a replacement for visible labels or instructions.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d59b2f6-79d2-400b-b0ac-f315574583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" y="342900"/>
            <a:ext cx="8220456" cy="6199632"/>
          </a:xfrm>
          <a:prstGeom prst="rect">
            <a:avLst/>
          </a:prstGeom>
          <a:solidFill>
            <a:srgbClr val="FFFFFF"/>
          </a:solidFill>
          <a:ln w="10160">
            <a:solidFill>
              <a:srgbClr val="E84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tm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393192"/>
            <a:ext cx="1371600" cy="1447800"/>
          </a:xfrm>
          <a:prstGeom prst="rect">
            <a:avLst/>
          </a:prstGeom>
        </p:spPr>
      </p:pic>
      <p:pic>
        <p:nvPicPr>
          <p:cNvPr id="5" name="Picture 4" descr="coding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5650992"/>
            <a:ext cx="1719072" cy="6876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" y="658368"/>
            <a:ext cx="5806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B1FB4"/>
                </a:solidFill>
                <a:latin typeface="Courier New"/>
              </a:defRPr>
            </a:pPr>
            <a:r>
              <a:t>iframe &amp; embed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1225296"/>
            <a:ext cx="458010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5A5A"/>
                </a:solidFill>
                <a:latin typeface="Arial"/>
              </a:defRPr>
            </a:pPr>
            <a:r>
              <a:rPr sz="1400" dirty="0"/>
              <a:t>Display content from another resource inside your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33856" y="1731264"/>
            <a:ext cx="1371600" cy="320040"/>
          </a:xfrm>
          <a:prstGeom prst="roundRect">
            <a:avLst/>
          </a:prstGeom>
          <a:solidFill>
            <a:srgbClr val="5B1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/>
              <a:t>IFRAME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16911"/>
            <a:ext cx="6044184" cy="92333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&lt;</a:t>
            </a:r>
            <a:r>
              <a:rPr sz="1400" dirty="0" err="1"/>
              <a:t>iframe</a:t>
            </a:r>
            <a:r>
              <a:rPr sz="1400" dirty="0"/>
              <a:t>&gt; embeds another HTML page or external resource.</a:t>
            </a:r>
          </a:p>
          <a:p>
            <a:pPr>
              <a:spcAft>
                <a:spcPts val="9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Common examples: maps, videos, dashboards and documentation.</a:t>
            </a:r>
          </a:p>
          <a:p>
            <a:pPr>
              <a:spcAft>
                <a:spcPts val="9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Always provide a meaningful title for accessibility.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2070" y="3286324"/>
            <a:ext cx="6633754" cy="420624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rtlCol="0" anchor="ctr"/>
          <a:lstStyle/>
          <a:p>
            <a:pPr algn="ctr">
              <a:defRPr sz="950">
                <a:solidFill>
                  <a:srgbClr val="191919"/>
                </a:solidFill>
                <a:latin typeface="Courier New"/>
              </a:defRPr>
            </a:pPr>
            <a:r>
              <a:rPr sz="1400" dirty="0"/>
              <a:t>&lt;</a:t>
            </a:r>
            <a:r>
              <a:rPr sz="1400" dirty="0" err="1"/>
              <a:t>iframe</a:t>
            </a:r>
            <a:r>
              <a:rPr sz="1400" dirty="0"/>
              <a:t>  </a:t>
            </a:r>
            <a:r>
              <a:rPr sz="1400" dirty="0" err="1"/>
              <a:t>src</a:t>
            </a:r>
            <a:r>
              <a:rPr sz="1400" dirty="0"/>
              <a:t>="https://example.com"  title="Example content"&gt;&lt;/</a:t>
            </a:r>
            <a:r>
              <a:rPr sz="1400" dirty="0" err="1"/>
              <a:t>iframe</a:t>
            </a:r>
            <a:r>
              <a:rPr sz="1400" dirty="0"/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2070" y="3996436"/>
            <a:ext cx="1371600" cy="320040"/>
          </a:xfrm>
          <a:prstGeom prst="roundRect">
            <a:avLst/>
          </a:prstGeom>
          <a:solidFill>
            <a:srgbClr val="5B1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/>
              <a:t>EMBED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143000" y="4435800"/>
            <a:ext cx="6633754" cy="59247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&lt;embed&gt; can embed external resources such as PDFs.</a:t>
            </a:r>
          </a:p>
          <a:p>
            <a:pPr>
              <a:spcAft>
                <a:spcPts val="900"/>
              </a:spcAft>
              <a:defRPr sz="120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For modern applications, choose the element/API that best matches the content.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086547"/>
            <a:ext cx="6633754" cy="420625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rtlCol="0" anchor="ctr"/>
          <a:lstStyle/>
          <a:p>
            <a:pPr algn="ctr">
              <a:defRPr sz="950">
                <a:solidFill>
                  <a:srgbClr val="191919"/>
                </a:solidFill>
                <a:latin typeface="Courier New"/>
              </a:defRPr>
            </a:pPr>
            <a:r>
              <a:rPr sz="1400" dirty="0"/>
              <a:t>&lt;embed </a:t>
            </a:r>
            <a:r>
              <a:rPr sz="1400" dirty="0" err="1"/>
              <a:t>src</a:t>
            </a:r>
            <a:r>
              <a:rPr sz="1400" dirty="0"/>
              <a:t>="guide.pdf" type="application/pdf"&gt;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d59b2f6-79d2-400b-b0ac-f315574583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" y="342900"/>
            <a:ext cx="8220456" cy="6199632"/>
          </a:xfrm>
          <a:prstGeom prst="rect">
            <a:avLst/>
          </a:prstGeom>
          <a:solidFill>
            <a:srgbClr val="FFFFFF"/>
          </a:solidFill>
          <a:ln w="10160">
            <a:solidFill>
              <a:srgbClr val="E84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tm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393192"/>
            <a:ext cx="1371600" cy="1447800"/>
          </a:xfrm>
          <a:prstGeom prst="rect">
            <a:avLst/>
          </a:prstGeom>
        </p:spPr>
      </p:pic>
      <p:pic>
        <p:nvPicPr>
          <p:cNvPr id="5" name="Picture 4" descr="coding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5650992"/>
            <a:ext cx="1719072" cy="6876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" y="658368"/>
            <a:ext cx="5806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B1FB4"/>
                </a:solidFill>
                <a:latin typeface="Courier New"/>
              </a:defRPr>
            </a:pPr>
            <a:r>
              <a:t>Audio &amp; Video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1225296"/>
            <a:ext cx="395492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5A5A"/>
                </a:solidFill>
                <a:latin typeface="Arial"/>
              </a:defRPr>
            </a:pPr>
            <a:r>
              <a:rPr sz="1400" dirty="0"/>
              <a:t>Native HTML5 media without third-party plugins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2999" y="1700847"/>
            <a:ext cx="6966858" cy="125418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&lt;audio&gt; plays sound files such as MP3, WAV or OGG.</a:t>
            </a:r>
          </a:p>
          <a:p>
            <a:pPr>
              <a:spcAft>
                <a:spcPts val="9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&lt;video&gt; displays video with controls, poster images and multiple source formats.</a:t>
            </a:r>
          </a:p>
          <a:p>
            <a:pPr>
              <a:spcAft>
                <a:spcPts val="9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controls lets the browser show play/pause, volume and progress controls.</a:t>
            </a:r>
          </a:p>
          <a:p>
            <a:pPr>
              <a:spcAft>
                <a:spcPts val="9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Use &lt;source&gt; when you want to provide fallback media formats.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5103" y="3213735"/>
            <a:ext cx="667512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rtlCol="0" anchor="ctr"/>
          <a:lstStyle/>
          <a:p>
            <a:pPr algn="ctr">
              <a:defRPr sz="950">
                <a:solidFill>
                  <a:srgbClr val="191919"/>
                </a:solidFill>
                <a:latin typeface="Courier New"/>
              </a:defRPr>
            </a:pPr>
            <a:r>
              <a:rPr sz="1400" dirty="0"/>
              <a:t>&lt;audio controls&gt;  &lt;source </a:t>
            </a:r>
            <a:r>
              <a:rPr sz="1400" dirty="0" err="1"/>
              <a:t>src</a:t>
            </a:r>
            <a:r>
              <a:rPr sz="1400" dirty="0"/>
              <a:t>="song.mp3"  type="audio/mpeg"&gt;</a:t>
            </a:r>
            <a:r>
              <a:rPr lang="en-US" sz="1400" dirty="0"/>
              <a:t> </a:t>
            </a:r>
            <a:r>
              <a:rPr sz="1400" dirty="0"/>
              <a:t>&lt;/audio&gt;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2999" y="3945255"/>
            <a:ext cx="6675119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rtlCol="0" anchor="ctr"/>
          <a:lstStyle/>
          <a:p>
            <a:pPr algn="ctr">
              <a:defRPr sz="919">
                <a:solidFill>
                  <a:srgbClr val="191919"/>
                </a:solidFill>
                <a:latin typeface="Courier New"/>
              </a:defRPr>
            </a:pPr>
            <a:r>
              <a:rPr sz="1400" dirty="0"/>
              <a:t>&lt;video controls </a:t>
            </a:r>
            <a:r>
              <a:rPr lang="en-US" sz="1400" dirty="0"/>
              <a:t> </a:t>
            </a:r>
            <a:r>
              <a:rPr sz="1400" dirty="0"/>
              <a:t>width="480" poster="cover.jpg"&gt;  &lt;source </a:t>
            </a:r>
            <a:r>
              <a:rPr sz="1400" dirty="0" err="1"/>
              <a:t>src</a:t>
            </a:r>
            <a:r>
              <a:rPr sz="1400" dirty="0"/>
              <a:t>="intro.mp4" type="video/mp4"&gt;</a:t>
            </a:r>
            <a:r>
              <a:rPr lang="en-US" sz="1400" dirty="0"/>
              <a:t> </a:t>
            </a:r>
            <a:r>
              <a:rPr sz="1400" dirty="0"/>
              <a:t>&lt;/video&gt;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71736" y="4860036"/>
            <a:ext cx="6583680" cy="475488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23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784B"/>
                </a:solidFill>
                <a:latin typeface="Arial"/>
              </a:defRPr>
            </a:pPr>
            <a:r>
              <a:rPr dirty="0"/>
              <a:t>Accessibility: provide captions/subtitles for videos whenever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d59b2f6-79d2-400b-b0ac-f315574583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" y="342900"/>
            <a:ext cx="8220456" cy="6199632"/>
          </a:xfrm>
          <a:prstGeom prst="rect">
            <a:avLst/>
          </a:prstGeom>
          <a:solidFill>
            <a:srgbClr val="FFFFFF"/>
          </a:solidFill>
          <a:ln w="10160">
            <a:solidFill>
              <a:srgbClr val="E84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tm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393192"/>
            <a:ext cx="1371600" cy="1447800"/>
          </a:xfrm>
          <a:prstGeom prst="rect">
            <a:avLst/>
          </a:prstGeom>
        </p:spPr>
      </p:pic>
      <p:pic>
        <p:nvPicPr>
          <p:cNvPr id="5" name="Picture 4" descr="coding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5650992"/>
            <a:ext cx="1719072" cy="6876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" y="658368"/>
            <a:ext cx="5806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B1FB4"/>
                </a:solidFill>
                <a:latin typeface="Courier New"/>
              </a:defRPr>
            </a:pPr>
            <a:r>
              <a:t>Embedding a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1225296"/>
            <a:ext cx="500784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5A5A"/>
                </a:solidFill>
                <a:latin typeface="Arial"/>
              </a:defRPr>
            </a:pPr>
            <a:r>
              <a:rPr sz="1400" dirty="0"/>
              <a:t>A map can be displayed using an </a:t>
            </a:r>
            <a:r>
              <a:rPr sz="1400" dirty="0" err="1"/>
              <a:t>iframe</a:t>
            </a:r>
            <a:r>
              <a:rPr sz="1400" dirty="0"/>
              <a:t> from a map provider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3494" y="1989968"/>
            <a:ext cx="6509657" cy="125418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Most map services provide a ready-to-use embed URL or </a:t>
            </a:r>
            <a:r>
              <a:rPr sz="1400" dirty="0" err="1"/>
              <a:t>iframe</a:t>
            </a:r>
            <a:r>
              <a:rPr sz="1400" dirty="0"/>
              <a:t> snippet.</a:t>
            </a:r>
          </a:p>
          <a:p>
            <a:pPr>
              <a:spcAft>
                <a:spcPts val="9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The map appears inside your page without building a map engine yourself.</a:t>
            </a:r>
          </a:p>
          <a:p>
            <a:pPr>
              <a:spcAft>
                <a:spcPts val="9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Use width/height responsively and give the </a:t>
            </a:r>
            <a:r>
              <a:rPr sz="1400" dirty="0" err="1"/>
              <a:t>iframe</a:t>
            </a:r>
            <a:r>
              <a:rPr sz="1400" dirty="0"/>
              <a:t> a useful title.</a:t>
            </a:r>
          </a:p>
          <a:p>
            <a:pPr>
              <a:spcAft>
                <a:spcPts val="9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For advanced map interactions, consider the provider's JavaScript Maps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7" y="3744468"/>
            <a:ext cx="6700375" cy="687629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rtlCol="0" anchor="ctr"/>
          <a:lstStyle/>
          <a:p>
            <a:pPr algn="ctr">
              <a:defRPr sz="869">
                <a:solidFill>
                  <a:srgbClr val="191919"/>
                </a:solidFill>
                <a:latin typeface="Courier New"/>
              </a:defRPr>
            </a:pPr>
            <a:r>
              <a:rPr sz="1400" dirty="0"/>
              <a:t>&lt;</a:t>
            </a:r>
            <a:r>
              <a:rPr sz="1400" dirty="0" err="1"/>
              <a:t>iframe</a:t>
            </a:r>
            <a:r>
              <a:rPr sz="1400" dirty="0"/>
              <a:t>  </a:t>
            </a:r>
            <a:r>
              <a:rPr sz="1400" dirty="0" err="1"/>
              <a:t>src</a:t>
            </a:r>
            <a:r>
              <a:rPr sz="1400" dirty="0"/>
              <a:t>="MAP_EMBED_URL"  width="100%"  height="350"  style="border:0"  title="Office location"&gt;&lt;/</a:t>
            </a:r>
            <a:r>
              <a:rPr sz="1400" dirty="0" err="1"/>
              <a:t>iframe</a:t>
            </a:r>
            <a:r>
              <a:rPr sz="1400" dirty="0"/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39674" y="4888992"/>
            <a:ext cx="5731983" cy="530352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23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784B"/>
                </a:solidFill>
                <a:latin typeface="Arial"/>
              </a:defRPr>
            </a:pPr>
            <a:r>
              <a:rPr sz="1200" dirty="0"/>
              <a:t>Practice: generate an embed link for a location and place it inside a responsive page.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d59b2f6-79d2-400b-b0ac-f315574583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" y="342900"/>
            <a:ext cx="8220456" cy="6199632"/>
          </a:xfrm>
          <a:prstGeom prst="rect">
            <a:avLst/>
          </a:prstGeom>
          <a:solidFill>
            <a:srgbClr val="FFFFFF"/>
          </a:solidFill>
          <a:ln w="10160">
            <a:solidFill>
              <a:srgbClr val="E84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tm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393192"/>
            <a:ext cx="1371600" cy="1447800"/>
          </a:xfrm>
          <a:prstGeom prst="rect">
            <a:avLst/>
          </a:prstGeom>
        </p:spPr>
      </p:pic>
      <p:pic>
        <p:nvPicPr>
          <p:cNvPr id="5" name="Picture 4" descr="coding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5650992"/>
            <a:ext cx="1719072" cy="6876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" y="658368"/>
            <a:ext cx="5806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B1FB4"/>
                </a:solidFill>
                <a:latin typeface="Courier New"/>
              </a:defRPr>
            </a:pPr>
            <a:r>
              <a:t>Embedding a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1225296"/>
            <a:ext cx="400622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5A5A"/>
                </a:solidFill>
                <a:latin typeface="Arial"/>
              </a:defRPr>
            </a:pPr>
            <a:r>
              <a:rPr sz="1400" dirty="0"/>
              <a:t>Let users view a PDF directly inside the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2999" y="1692004"/>
            <a:ext cx="7141029" cy="92333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rPr dirty="0"/>
              <a:t>➤  A PDF can be displayed with &lt;</a:t>
            </a:r>
            <a:r>
              <a:rPr dirty="0" err="1"/>
              <a:t>iframe</a:t>
            </a:r>
            <a:r>
              <a:rPr dirty="0"/>
              <a:t>&gt;, &lt;embed&gt; or &lt;object&gt;.</a:t>
            </a:r>
          </a:p>
          <a:p>
            <a:pPr>
              <a:spcAft>
                <a:spcPts val="9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rPr dirty="0"/>
              <a:t>➤  Always provide a normal download/open link as a fallback.</a:t>
            </a:r>
          </a:p>
          <a:p>
            <a:pPr>
              <a:spcAft>
                <a:spcPts val="9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rPr dirty="0"/>
              <a:t>➤  Browser PDF support can vary, so do not assume every environment will render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" y="3352800"/>
            <a:ext cx="6793992" cy="1191768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rtlCol="0" anchor="ctr"/>
          <a:lstStyle/>
          <a:p>
            <a:pPr algn="ctr">
              <a:defRPr sz="880">
                <a:solidFill>
                  <a:srgbClr val="191919"/>
                </a:solidFill>
                <a:latin typeface="Courier New"/>
              </a:defRPr>
            </a:pPr>
            <a:r>
              <a:rPr sz="1600" dirty="0"/>
              <a:t>&lt;</a:t>
            </a:r>
            <a:r>
              <a:rPr sz="1600" dirty="0" err="1"/>
              <a:t>iframe</a:t>
            </a:r>
            <a:r>
              <a:rPr sz="1600" dirty="0"/>
              <a:t>\n  </a:t>
            </a:r>
            <a:r>
              <a:rPr sz="1600" dirty="0" err="1"/>
              <a:t>src</a:t>
            </a:r>
            <a:r>
              <a:rPr sz="1600" dirty="0"/>
              <a:t>="docs/guide.pdf"  width="100%"  height="500"  title="Product guide"&gt;&lt;/</a:t>
            </a:r>
            <a:r>
              <a:rPr sz="1600" dirty="0" err="1"/>
              <a:t>iframe</a:t>
            </a:r>
            <a:r>
              <a:rPr sz="1600" dirty="0"/>
              <a:t>&gt;</a:t>
            </a:r>
            <a:endParaRPr lang="en-US" sz="1600" dirty="0"/>
          </a:p>
          <a:p>
            <a:pPr algn="ctr">
              <a:defRPr sz="880">
                <a:solidFill>
                  <a:srgbClr val="191919"/>
                </a:solidFill>
                <a:latin typeface="Courier New"/>
              </a:defRPr>
            </a:pPr>
            <a:endParaRPr lang="en-US" sz="1600" dirty="0"/>
          </a:p>
          <a:p>
            <a:pPr algn="ctr">
              <a:defRPr sz="880">
                <a:solidFill>
                  <a:srgbClr val="191919"/>
                </a:solidFill>
                <a:latin typeface="Courier New"/>
              </a:defRPr>
            </a:pPr>
            <a:r>
              <a:rPr sz="1600" dirty="0"/>
              <a:t>&lt;a </a:t>
            </a:r>
            <a:r>
              <a:rPr sz="1600" dirty="0" err="1"/>
              <a:t>href</a:t>
            </a:r>
            <a:r>
              <a:rPr sz="1600" dirty="0"/>
              <a:t>="docs/guide.pdf" download&gt;Download PDF&lt;/a&gt;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91343" y="4900820"/>
            <a:ext cx="5852160" cy="530352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23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784B"/>
                </a:solidFill>
                <a:latin typeface="Arial"/>
              </a:defRPr>
            </a:pPr>
            <a:r>
              <a:t>Best practice: give users both an in-browser preview and a clear download/open option.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d59b2f6-79d2-400b-b0ac-f315574583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" y="342900"/>
            <a:ext cx="8220456" cy="6199632"/>
          </a:xfrm>
          <a:prstGeom prst="rect">
            <a:avLst/>
          </a:prstGeom>
          <a:solidFill>
            <a:srgbClr val="FFFFFF"/>
          </a:solidFill>
          <a:ln w="10160">
            <a:solidFill>
              <a:srgbClr val="E84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tm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393192"/>
            <a:ext cx="1371600" cy="1447800"/>
          </a:xfrm>
          <a:prstGeom prst="rect">
            <a:avLst/>
          </a:prstGeom>
        </p:spPr>
      </p:pic>
      <p:pic>
        <p:nvPicPr>
          <p:cNvPr id="5" name="Picture 4" descr="coding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5650992"/>
            <a:ext cx="1719072" cy="6876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" y="658368"/>
            <a:ext cx="5806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B1FB4"/>
                </a:solidFill>
                <a:latin typeface="Courier New"/>
              </a:defRPr>
            </a:pPr>
            <a:r>
              <a:rPr dirty="0"/>
              <a:t>HTML Symbols &amp; Character Entities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1225296"/>
            <a:ext cx="450315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5A5A"/>
                </a:solidFill>
                <a:latin typeface="Arial"/>
              </a:defRPr>
            </a:pPr>
            <a:r>
              <a:rPr sz="1400" dirty="0"/>
              <a:t>Display reserved characters and useful symbols safely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2999" y="1809704"/>
            <a:ext cx="7130143" cy="125418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HTML uses character entities when a character has special meaning in markup.</a:t>
            </a:r>
          </a:p>
          <a:p>
            <a:pPr>
              <a:spcAft>
                <a:spcPts val="9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&amp;</a:t>
            </a:r>
            <a:r>
              <a:rPr sz="1400" dirty="0" err="1"/>
              <a:t>lt</a:t>
            </a:r>
            <a:r>
              <a:rPr sz="1400" dirty="0"/>
              <a:t>; displays &lt; and &amp;</a:t>
            </a:r>
            <a:r>
              <a:rPr sz="1400" dirty="0" err="1"/>
              <a:t>gt</a:t>
            </a:r>
            <a:r>
              <a:rPr sz="1400" dirty="0"/>
              <a:t>; displays &gt;.</a:t>
            </a:r>
          </a:p>
          <a:p>
            <a:pPr>
              <a:spcAft>
                <a:spcPts val="9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&amp;amp; displays &amp;, while &amp;</a:t>
            </a:r>
            <a:r>
              <a:rPr sz="1400" dirty="0" err="1"/>
              <a:t>quot</a:t>
            </a:r>
            <a:r>
              <a:rPr sz="1400" dirty="0"/>
              <a:t>; displays a quotation mark.</a:t>
            </a:r>
          </a:p>
          <a:p>
            <a:pPr>
              <a:spcAft>
                <a:spcPts val="9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Named entities and numeric entities can represent many Unicode characters.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07008" y="3415284"/>
            <a:ext cx="6793992" cy="128016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rtlCol="0" anchor="ctr"/>
          <a:lstStyle/>
          <a:p>
            <a:pPr algn="ctr">
              <a:defRPr sz="1000">
                <a:solidFill>
                  <a:srgbClr val="191919"/>
                </a:solidFill>
                <a:latin typeface="Courier New"/>
              </a:defRPr>
            </a:pPr>
            <a:r>
              <a:rPr sz="1600" dirty="0"/>
              <a:t>&amp;copy;   → ©&amp;reg;    → ®&amp;trade;  → ™&amp;</a:t>
            </a:r>
            <a:r>
              <a:rPr sz="1600" dirty="0" err="1"/>
              <a:t>rarr</a:t>
            </a:r>
            <a:r>
              <a:rPr sz="1600" dirty="0"/>
              <a:t>;   → →&amp;hearts; → ♥&amp;#8377;  → ₹&amp;</a:t>
            </a:r>
            <a:r>
              <a:rPr sz="1600" dirty="0" err="1"/>
              <a:t>lt</a:t>
            </a:r>
            <a:r>
              <a:rPr sz="1600" dirty="0"/>
              <a:t>;      → &lt;&amp;</a:t>
            </a:r>
            <a:r>
              <a:rPr sz="1600" dirty="0" err="1"/>
              <a:t>gt</a:t>
            </a:r>
            <a:r>
              <a:rPr sz="1600" dirty="0"/>
              <a:t>;      → &gt;&amp;amp</a:t>
            </a:r>
            <a:r>
              <a:rPr lang="en-US" sz="1600" dirty="0"/>
              <a:t>;</a:t>
            </a:r>
            <a:endParaRPr sz="1600" dirty="0"/>
          </a:p>
        </p:txBody>
      </p:sp>
      <p:sp>
        <p:nvSpPr>
          <p:cNvPr id="10" name="Rounded Rectangle 9"/>
          <p:cNvSpPr/>
          <p:nvPr/>
        </p:nvSpPr>
        <p:spPr>
          <a:xfrm>
            <a:off x="1188720" y="5070348"/>
            <a:ext cx="6766560" cy="530352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23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784B"/>
                </a:solidFill>
                <a:latin typeface="Arial"/>
              </a:defRPr>
            </a:pPr>
            <a:r>
              <a:rPr sz="1200" dirty="0"/>
              <a:t>Interview point: entities are especially important when displaying reserved HTML characters as text.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d59b2f6-79d2-400b-b0ac-f315574583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" y="342900"/>
            <a:ext cx="8220456" cy="6199632"/>
          </a:xfrm>
          <a:prstGeom prst="rect">
            <a:avLst/>
          </a:prstGeom>
          <a:solidFill>
            <a:srgbClr val="FFFFFF"/>
          </a:solidFill>
          <a:ln w="10160">
            <a:solidFill>
              <a:srgbClr val="E84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tm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393192"/>
            <a:ext cx="1371600" cy="1447800"/>
          </a:xfrm>
          <a:prstGeom prst="rect">
            <a:avLst/>
          </a:prstGeom>
        </p:spPr>
      </p:pic>
      <p:pic>
        <p:nvPicPr>
          <p:cNvPr id="5" name="Picture 4" descr="coding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5650992"/>
            <a:ext cx="1719072" cy="6876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" y="658368"/>
            <a:ext cx="5806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B1FB4"/>
                </a:solidFill>
                <a:latin typeface="Courier New"/>
              </a:defRPr>
            </a:pPr>
            <a:r>
              <a:t>HTML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1225296"/>
            <a:ext cx="366638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5A5A"/>
                </a:solidFill>
                <a:latin typeface="Arial"/>
              </a:defRPr>
            </a:pPr>
            <a:r>
              <a:rPr sz="1400" dirty="0"/>
              <a:t>Collect user input and send it for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06631"/>
            <a:ext cx="6335486" cy="125418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&lt;form&gt; groups controls and defines where/how the data is submitted.</a:t>
            </a:r>
          </a:p>
          <a:p>
            <a:pPr>
              <a:spcAft>
                <a:spcPts val="9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action specifies the destination URL; method is commonly GET or POST.</a:t>
            </a:r>
          </a:p>
          <a:p>
            <a:pPr>
              <a:spcAft>
                <a:spcPts val="9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&lt;label&gt; should be associated with its input using for + id.</a:t>
            </a:r>
          </a:p>
          <a:p>
            <a:pPr>
              <a:spcAft>
                <a:spcPts val="9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Use name attributes because they identify submitted form values.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" y="3429000"/>
            <a:ext cx="6793992" cy="1033272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rtlCol="0" anchor="ctr"/>
          <a:lstStyle/>
          <a:p>
            <a:pPr algn="ctr">
              <a:defRPr sz="880">
                <a:solidFill>
                  <a:srgbClr val="191919"/>
                </a:solidFill>
                <a:latin typeface="Courier New"/>
              </a:defRPr>
            </a:pPr>
            <a:r>
              <a:rPr sz="1400" dirty="0"/>
              <a:t>&lt;form action="/register" method="post"&gt; </a:t>
            </a:r>
            <a:endParaRPr lang="en-US" sz="1400" dirty="0"/>
          </a:p>
          <a:p>
            <a:pPr algn="ctr">
              <a:defRPr sz="880">
                <a:solidFill>
                  <a:srgbClr val="191919"/>
                </a:solidFill>
                <a:latin typeface="Courier New"/>
              </a:defRPr>
            </a:pPr>
            <a:r>
              <a:rPr sz="1400" dirty="0"/>
              <a:t> &lt;label for="email"&gt;Email&lt;/label&gt;  </a:t>
            </a:r>
            <a:endParaRPr lang="en-US" sz="1400" dirty="0"/>
          </a:p>
          <a:p>
            <a:pPr algn="ctr">
              <a:defRPr sz="880">
                <a:solidFill>
                  <a:srgbClr val="191919"/>
                </a:solidFill>
                <a:latin typeface="Courier New"/>
              </a:defRPr>
            </a:pPr>
            <a:r>
              <a:rPr sz="1400" dirty="0"/>
              <a:t>&lt;input id="email" name="email"</a:t>
            </a:r>
            <a:r>
              <a:rPr lang="en-US" sz="1400" dirty="0"/>
              <a:t> </a:t>
            </a:r>
            <a:r>
              <a:rPr sz="1400" dirty="0"/>
              <a:t>type="email"&gt;</a:t>
            </a:r>
            <a:endParaRPr lang="en-US" sz="1400" dirty="0"/>
          </a:p>
          <a:p>
            <a:pPr algn="ctr">
              <a:defRPr sz="880">
                <a:solidFill>
                  <a:srgbClr val="191919"/>
                </a:solidFill>
                <a:latin typeface="Courier New"/>
              </a:defRPr>
            </a:pPr>
            <a:r>
              <a:rPr sz="1400" dirty="0"/>
              <a:t>&lt;button type="submit"&gt;Register&lt;/button&gt;</a:t>
            </a:r>
            <a:endParaRPr lang="en-US" sz="1400" dirty="0"/>
          </a:p>
          <a:p>
            <a:pPr algn="ctr">
              <a:defRPr sz="880">
                <a:solidFill>
                  <a:srgbClr val="191919"/>
                </a:solidFill>
                <a:latin typeface="Courier New"/>
              </a:defRPr>
            </a:pPr>
            <a:r>
              <a:rPr sz="1400" dirty="0"/>
              <a:t>&lt;/form&gt;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84663" y="4886193"/>
            <a:ext cx="6333308" cy="530352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23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784B"/>
                </a:solidFill>
                <a:latin typeface="Arial"/>
              </a:defRPr>
            </a:pPr>
            <a:r>
              <a:rPr sz="1200" dirty="0"/>
              <a:t>Good form design = labels + correct input types + validation + clear submit action.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d59b2f6-79d2-400b-b0ac-f315574583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" y="342900"/>
            <a:ext cx="8220456" cy="6199632"/>
          </a:xfrm>
          <a:prstGeom prst="rect">
            <a:avLst/>
          </a:prstGeom>
          <a:solidFill>
            <a:srgbClr val="FFFFFF"/>
          </a:solidFill>
          <a:ln w="10160">
            <a:solidFill>
              <a:srgbClr val="E84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ding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5650992"/>
            <a:ext cx="1719072" cy="6876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" y="658368"/>
            <a:ext cx="5806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B1FB4"/>
                </a:solidFill>
                <a:latin typeface="Courier New"/>
              </a:defRPr>
            </a:pPr>
            <a:r>
              <a:t>Common Input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1225296"/>
            <a:ext cx="448071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5A5A"/>
                </a:solidFill>
                <a:latin typeface="Arial"/>
              </a:defRPr>
            </a:pPr>
            <a:r>
              <a:rPr sz="1400" dirty="0"/>
              <a:t>Choose the input type that matches the data you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37054"/>
            <a:ext cx="3154680" cy="224676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text — general short text</a:t>
            </a:r>
          </a:p>
          <a:p>
            <a:pPr>
              <a:spcAft>
                <a:spcPts val="9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email — email address</a:t>
            </a:r>
          </a:p>
          <a:p>
            <a:pPr>
              <a:spcAft>
                <a:spcPts val="9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password — masked password</a:t>
            </a:r>
          </a:p>
          <a:p>
            <a:pPr>
              <a:spcAft>
                <a:spcPts val="9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number — numeric value</a:t>
            </a:r>
          </a:p>
          <a:p>
            <a:pPr>
              <a:spcAft>
                <a:spcPts val="9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</a:t>
            </a:r>
            <a:r>
              <a:rPr sz="1400" dirty="0" err="1"/>
              <a:t>tel</a:t>
            </a:r>
            <a:r>
              <a:rPr sz="1400" dirty="0"/>
              <a:t> — telephone number</a:t>
            </a:r>
          </a:p>
          <a:p>
            <a:pPr>
              <a:spcAft>
                <a:spcPts val="9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</a:t>
            </a:r>
            <a:r>
              <a:rPr sz="1400" dirty="0" err="1"/>
              <a:t>url</a:t>
            </a:r>
            <a:r>
              <a:rPr sz="1400" dirty="0"/>
              <a:t> — web address</a:t>
            </a:r>
          </a:p>
          <a:p>
            <a:pPr>
              <a:spcAft>
                <a:spcPts val="9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search — search 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6547" y="1736985"/>
            <a:ext cx="3474720" cy="224676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date / time / datetime-local</a:t>
            </a:r>
          </a:p>
          <a:p>
            <a:pPr>
              <a:spcAft>
                <a:spcPts val="9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radio — one choice from a group</a:t>
            </a:r>
          </a:p>
          <a:p>
            <a:pPr>
              <a:spcAft>
                <a:spcPts val="9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checkbox — zero or more choices</a:t>
            </a:r>
          </a:p>
          <a:p>
            <a:pPr>
              <a:spcAft>
                <a:spcPts val="9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file — upload a file</a:t>
            </a:r>
          </a:p>
          <a:p>
            <a:pPr>
              <a:spcAft>
                <a:spcPts val="9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color — color picker</a:t>
            </a:r>
          </a:p>
          <a:p>
            <a:pPr>
              <a:spcAft>
                <a:spcPts val="9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range — slider value</a:t>
            </a:r>
          </a:p>
          <a:p>
            <a:pPr>
              <a:spcAft>
                <a:spcPts val="9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submit / reset / button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5400" y="4148109"/>
            <a:ext cx="6568440" cy="1298971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rtlCol="0" anchor="ctr"/>
          <a:lstStyle/>
          <a:p>
            <a:pPr algn="ctr">
              <a:defRPr sz="780">
                <a:solidFill>
                  <a:srgbClr val="191919"/>
                </a:solidFill>
                <a:latin typeface="Courier New"/>
              </a:defRPr>
            </a:pPr>
            <a:r>
              <a:rPr sz="1400" dirty="0"/>
              <a:t>&lt;input type="email"&gt;</a:t>
            </a:r>
            <a:endParaRPr lang="en-US" sz="1400" dirty="0"/>
          </a:p>
          <a:p>
            <a:pPr algn="ctr">
              <a:defRPr sz="780">
                <a:solidFill>
                  <a:srgbClr val="191919"/>
                </a:solidFill>
                <a:latin typeface="Courier New"/>
              </a:defRPr>
            </a:pPr>
            <a:r>
              <a:rPr sz="1400" dirty="0"/>
              <a:t>&lt;input type="date"&gt;</a:t>
            </a:r>
            <a:endParaRPr lang="en-US" sz="1400" dirty="0"/>
          </a:p>
          <a:p>
            <a:pPr algn="ctr">
              <a:defRPr sz="780">
                <a:solidFill>
                  <a:srgbClr val="191919"/>
                </a:solidFill>
                <a:latin typeface="Courier New"/>
              </a:defRPr>
            </a:pPr>
            <a:r>
              <a:rPr sz="1400" dirty="0"/>
              <a:t>&lt;input type="radio"&gt;</a:t>
            </a:r>
            <a:endParaRPr lang="en-US" sz="1400" dirty="0"/>
          </a:p>
          <a:p>
            <a:pPr algn="ctr">
              <a:defRPr sz="780">
                <a:solidFill>
                  <a:srgbClr val="191919"/>
                </a:solidFill>
                <a:latin typeface="Courier New"/>
              </a:defRPr>
            </a:pPr>
            <a:r>
              <a:rPr sz="1400" dirty="0"/>
              <a:t>&lt;input type="checkbox"&gt;</a:t>
            </a:r>
            <a:endParaRPr lang="en-US" sz="1400" dirty="0"/>
          </a:p>
          <a:p>
            <a:pPr algn="ctr">
              <a:defRPr sz="780">
                <a:solidFill>
                  <a:srgbClr val="191919"/>
                </a:solidFill>
                <a:latin typeface="Courier New"/>
              </a:defRPr>
            </a:pPr>
            <a:r>
              <a:rPr sz="1400" dirty="0"/>
              <a:t>&lt;input type="file"&gt;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d59b2f6-79d2-400b-b0ac-f315574583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" y="342900"/>
            <a:ext cx="8220456" cy="6199632"/>
          </a:xfrm>
          <a:prstGeom prst="rect">
            <a:avLst/>
          </a:prstGeom>
          <a:solidFill>
            <a:srgbClr val="FFFFFF"/>
          </a:solidFill>
          <a:ln w="10160">
            <a:solidFill>
              <a:srgbClr val="E84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ding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5650992"/>
            <a:ext cx="1719072" cy="6876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" y="658368"/>
            <a:ext cx="532338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B1FB4"/>
                </a:solidFill>
                <a:latin typeface="Courier New"/>
              </a:defRPr>
            </a:pPr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Assignment</a:t>
            </a:r>
            <a:r>
              <a:rPr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: Build a Media Contact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1225296"/>
            <a:ext cx="525150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5A5A"/>
                </a:solidFill>
                <a:latin typeface="Arial"/>
              </a:defRPr>
            </a:pPr>
            <a:r>
              <a:rPr sz="1400" dirty="0"/>
              <a:t>Combine the concepts from this lesson in one small HTML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85964"/>
            <a:ext cx="6377940" cy="191590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Add a favicon to the page.</a:t>
            </a:r>
          </a:p>
          <a:p>
            <a:pPr>
              <a:spcAft>
                <a:spcPts val="9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Create a tooltip on an important button or icon.</a:t>
            </a:r>
          </a:p>
          <a:p>
            <a:pPr>
              <a:spcAft>
                <a:spcPts val="9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Embed a map using an </a:t>
            </a:r>
            <a:r>
              <a:rPr sz="1400" dirty="0" err="1"/>
              <a:t>iframe</a:t>
            </a:r>
            <a:r>
              <a:rPr sz="1400" dirty="0"/>
              <a:t>.</a:t>
            </a:r>
          </a:p>
          <a:p>
            <a:pPr>
              <a:spcAft>
                <a:spcPts val="9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Add an audio player and a video player with controls.</a:t>
            </a:r>
          </a:p>
          <a:p>
            <a:pPr>
              <a:spcAft>
                <a:spcPts val="9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Show a PDF preview plus a download link.</a:t>
            </a:r>
          </a:p>
          <a:p>
            <a:pPr>
              <a:spcAft>
                <a:spcPts val="9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rPr sz="1400" dirty="0"/>
              <a:t>➤  Create a contact form with name, email, phone, subject and message fields.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57300" y="4874318"/>
            <a:ext cx="6629400" cy="457200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23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784B"/>
                </a:solidFill>
                <a:latin typeface="Arial"/>
              </a:defRPr>
            </a:pPr>
            <a:r>
              <a:rPr sz="1200" dirty="0"/>
              <a:t>Challenge: make the page responsive and accessible, then validate the HTML.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1301</Words>
  <Application>Microsoft Office PowerPoint</Application>
  <PresentationFormat>On-screen Show (4:3)</PresentationFormat>
  <Paragraphs>120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ADLaM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SHAVEZ ANSARI</cp:lastModifiedBy>
  <cp:revision>2</cp:revision>
  <dcterms:created xsi:type="dcterms:W3CDTF">2013-01-27T09:14:16Z</dcterms:created>
  <dcterms:modified xsi:type="dcterms:W3CDTF">2026-08-27T05:54:10Z</dcterms:modified>
  <cp:category/>
</cp:coreProperties>
</file>