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313" r:id="rId3"/>
    <p:sldId id="314" r:id="rId4"/>
    <p:sldId id="315" r:id="rId5"/>
    <p:sldId id="317" r:id="rId6"/>
    <p:sldId id="318" r:id="rId7"/>
    <p:sldId id="316" r:id="rId8"/>
    <p:sldId id="258" r:id="rId9"/>
    <p:sldId id="289" r:id="rId10"/>
    <p:sldId id="299" r:id="rId11"/>
    <p:sldId id="291" r:id="rId12"/>
    <p:sldId id="292" r:id="rId13"/>
    <p:sldId id="293" r:id="rId14"/>
    <p:sldId id="296" r:id="rId15"/>
    <p:sldId id="295" r:id="rId16"/>
    <p:sldId id="294" r:id="rId17"/>
    <p:sldId id="297" r:id="rId18"/>
    <p:sldId id="298" r:id="rId19"/>
    <p:sldId id="300" r:id="rId20"/>
    <p:sldId id="301" r:id="rId21"/>
    <p:sldId id="302" r:id="rId22"/>
    <p:sldId id="303" r:id="rId23"/>
    <p:sldId id="310" r:id="rId24"/>
    <p:sldId id="311" r:id="rId25"/>
    <p:sldId id="304" r:id="rId26"/>
    <p:sldId id="305" r:id="rId27"/>
    <p:sldId id="306" r:id="rId28"/>
    <p:sldId id="307" r:id="rId29"/>
    <p:sldId id="312" r:id="rId30"/>
    <p:sldId id="308" r:id="rId31"/>
    <p:sldId id="309" r:id="rId32"/>
    <p:sldId id="290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1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2"/>
    <p:restoredTop sz="95082"/>
  </p:normalViewPr>
  <p:slideViewPr>
    <p:cSldViewPr>
      <p:cViewPr varScale="1">
        <p:scale>
          <a:sx n="130" d="100"/>
          <a:sy n="130" d="100"/>
        </p:scale>
        <p:origin x="5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BFEA12-1A1C-21C6-F576-16681EAC3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86FB2-9F9D-0BD5-890D-6D486A9DC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D5671-09BA-604E-9511-BE2E1EF7CD68}" type="datetime3">
              <a:rPr lang="en-IN" smtClean="0"/>
              <a:t>12 January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FE063-6E91-09C1-A161-A677B9286C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9BC94-6BDE-DF67-CC48-8BAF5D182F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6ABCD-1F46-A747-AD4D-DCB002E39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7404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11279-75F5-5C44-AC46-42BB59A1D64F}" type="datetime3">
              <a:rPr lang="en-IN" smtClean="0"/>
              <a:t>12 January 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DBD21-CAAB-5F4A-BA1C-97E3A703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3247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6CC5-6CF3-DB4A-8FF0-DC29C4CA218B}" type="datetime3">
              <a:rPr lang="en-IN" smtClean="0"/>
              <a:t>12 January 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BC5C4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9987-A960-8F45-9BEE-8DB9BE74A649}" type="datetime3">
              <a:rPr lang="en-IN" smtClean="0"/>
              <a:t>12 January 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BC5C4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8F3DA-3B54-FB4B-9729-3AB908B16019}" type="datetime3">
              <a:rPr lang="en-IN" smtClean="0"/>
              <a:t>12 January 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ln w="6096">
            <a:solidFill>
              <a:srgbClr val="EE5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BC5C4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478AD-E50C-EF43-A4E1-9665F693000B}" type="datetime3">
              <a:rPr lang="en-IN" smtClean="0"/>
              <a:t>12 January 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28600" y="0"/>
            <a:ext cx="195580" cy="6858000"/>
          </a:xfrm>
          <a:custGeom>
            <a:avLst/>
            <a:gdLst/>
            <a:ahLst/>
            <a:cxnLst/>
            <a:rect l="l" t="t" r="r" b="b"/>
            <a:pathLst>
              <a:path w="195579" h="6858000">
                <a:moveTo>
                  <a:pt x="0" y="6858000"/>
                </a:moveTo>
                <a:lnTo>
                  <a:pt x="195072" y="6858000"/>
                </a:lnTo>
                <a:lnTo>
                  <a:pt x="19507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414272" y="0"/>
            <a:ext cx="1481455" cy="601980"/>
          </a:xfrm>
          <a:custGeom>
            <a:avLst/>
            <a:gdLst/>
            <a:ahLst/>
            <a:cxnLst/>
            <a:rect l="l" t="t" r="r" b="b"/>
            <a:pathLst>
              <a:path w="1481455" h="601980">
                <a:moveTo>
                  <a:pt x="0" y="601980"/>
                </a:moveTo>
                <a:lnTo>
                  <a:pt x="1481328" y="601980"/>
                </a:lnTo>
                <a:lnTo>
                  <a:pt x="1481328" y="0"/>
                </a:lnTo>
                <a:lnTo>
                  <a:pt x="0" y="0"/>
                </a:lnTo>
                <a:lnTo>
                  <a:pt x="0" y="60198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414272" y="6249923"/>
            <a:ext cx="1481455" cy="608330"/>
          </a:xfrm>
          <a:custGeom>
            <a:avLst/>
            <a:gdLst/>
            <a:ahLst/>
            <a:cxnLst/>
            <a:rect l="l" t="t" r="r" b="b"/>
            <a:pathLst>
              <a:path w="1481455" h="608329">
                <a:moveTo>
                  <a:pt x="0" y="608075"/>
                </a:moveTo>
                <a:lnTo>
                  <a:pt x="1481328" y="608075"/>
                </a:lnTo>
                <a:lnTo>
                  <a:pt x="1481328" y="0"/>
                </a:lnTo>
                <a:lnTo>
                  <a:pt x="0" y="0"/>
                </a:lnTo>
                <a:lnTo>
                  <a:pt x="0" y="608075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423672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652272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6629400" y="6249923"/>
            <a:ext cx="1524000" cy="608330"/>
          </a:xfrm>
          <a:custGeom>
            <a:avLst/>
            <a:gdLst/>
            <a:ahLst/>
            <a:cxnLst/>
            <a:rect l="l" t="t" r="r" b="b"/>
            <a:pathLst>
              <a:path w="1524000" h="608329">
                <a:moveTo>
                  <a:pt x="0" y="608075"/>
                </a:moveTo>
                <a:lnTo>
                  <a:pt x="1524000" y="608075"/>
                </a:lnTo>
                <a:lnTo>
                  <a:pt x="1524000" y="0"/>
                </a:lnTo>
                <a:lnTo>
                  <a:pt x="0" y="0"/>
                </a:lnTo>
                <a:lnTo>
                  <a:pt x="0" y="608075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-6350" y="0"/>
            <a:ext cx="9156700" cy="68643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4561332" y="0"/>
            <a:ext cx="3679190" cy="6250305"/>
          </a:xfrm>
          <a:custGeom>
            <a:avLst/>
            <a:gdLst/>
            <a:ahLst/>
            <a:cxnLst/>
            <a:rect l="l" t="t" r="r" b="b"/>
            <a:pathLst>
              <a:path w="3679190" h="6250305">
                <a:moveTo>
                  <a:pt x="0" y="6249924"/>
                </a:moveTo>
                <a:lnTo>
                  <a:pt x="3678936" y="6249924"/>
                </a:lnTo>
                <a:lnTo>
                  <a:pt x="3678936" y="0"/>
                </a:lnTo>
                <a:lnTo>
                  <a:pt x="0" y="0"/>
                </a:lnTo>
                <a:lnTo>
                  <a:pt x="0" y="624992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4561332" y="0"/>
            <a:ext cx="3679190" cy="6250305"/>
          </a:xfrm>
          <a:custGeom>
            <a:avLst/>
            <a:gdLst/>
            <a:ahLst/>
            <a:cxnLst/>
            <a:rect l="l" t="t" r="r" b="b"/>
            <a:pathLst>
              <a:path w="3679190" h="6250305">
                <a:moveTo>
                  <a:pt x="0" y="6249924"/>
                </a:moveTo>
                <a:lnTo>
                  <a:pt x="3678936" y="6249924"/>
                </a:lnTo>
                <a:lnTo>
                  <a:pt x="3678936" y="0"/>
                </a:lnTo>
              </a:path>
            </a:pathLst>
          </a:custGeom>
          <a:ln w="15240">
            <a:solidFill>
              <a:srgbClr val="7A7A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4561332" y="0"/>
            <a:ext cx="0" cy="6250305"/>
          </a:xfrm>
          <a:custGeom>
            <a:avLst/>
            <a:gdLst/>
            <a:ahLst/>
            <a:cxnLst/>
            <a:rect l="l" t="t" r="r" b="b"/>
            <a:pathLst>
              <a:path h="6250305">
                <a:moveTo>
                  <a:pt x="0" y="0"/>
                </a:moveTo>
                <a:lnTo>
                  <a:pt x="0" y="6249924"/>
                </a:lnTo>
              </a:path>
            </a:pathLst>
          </a:custGeom>
          <a:ln w="15240">
            <a:solidFill>
              <a:srgbClr val="7A7A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4649723" y="0"/>
            <a:ext cx="3505200" cy="2292350"/>
          </a:xfrm>
          <a:custGeom>
            <a:avLst/>
            <a:gdLst/>
            <a:ahLst/>
            <a:cxnLst/>
            <a:rect l="l" t="t" r="r" b="b"/>
            <a:pathLst>
              <a:path w="3505200" h="2292350">
                <a:moveTo>
                  <a:pt x="0" y="2292096"/>
                </a:moveTo>
                <a:lnTo>
                  <a:pt x="3505200" y="2292096"/>
                </a:lnTo>
                <a:lnTo>
                  <a:pt x="3505200" y="0"/>
                </a:lnTo>
                <a:lnTo>
                  <a:pt x="0" y="0"/>
                </a:lnTo>
                <a:lnTo>
                  <a:pt x="0" y="2292096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905255" y="601980"/>
            <a:ext cx="3563620" cy="5648325"/>
          </a:xfrm>
          <a:custGeom>
            <a:avLst/>
            <a:gdLst/>
            <a:ahLst/>
            <a:cxnLst/>
            <a:rect l="l" t="t" r="r" b="b"/>
            <a:pathLst>
              <a:path w="3563620" h="5648325">
                <a:moveTo>
                  <a:pt x="0" y="5647944"/>
                </a:moveTo>
                <a:lnTo>
                  <a:pt x="3563112" y="5647944"/>
                </a:lnTo>
                <a:lnTo>
                  <a:pt x="3563112" y="0"/>
                </a:lnTo>
                <a:lnTo>
                  <a:pt x="0" y="0"/>
                </a:lnTo>
                <a:lnTo>
                  <a:pt x="0" y="56479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905255" y="601980"/>
            <a:ext cx="3563620" cy="5648325"/>
          </a:xfrm>
          <a:custGeom>
            <a:avLst/>
            <a:gdLst/>
            <a:ahLst/>
            <a:cxnLst/>
            <a:rect l="l" t="t" r="r" b="b"/>
            <a:pathLst>
              <a:path w="3563620" h="5648325">
                <a:moveTo>
                  <a:pt x="0" y="5647944"/>
                </a:moveTo>
                <a:lnTo>
                  <a:pt x="3563112" y="5647944"/>
                </a:lnTo>
                <a:lnTo>
                  <a:pt x="3563112" y="0"/>
                </a:lnTo>
                <a:lnTo>
                  <a:pt x="0" y="0"/>
                </a:lnTo>
                <a:lnTo>
                  <a:pt x="0" y="564794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4649723" y="6097523"/>
            <a:ext cx="3505200" cy="132715"/>
          </a:xfrm>
          <a:custGeom>
            <a:avLst/>
            <a:gdLst/>
            <a:ahLst/>
            <a:cxnLst/>
            <a:rect l="l" t="t" r="r" b="b"/>
            <a:pathLst>
              <a:path w="3505200" h="132714">
                <a:moveTo>
                  <a:pt x="0" y="132587"/>
                </a:moveTo>
                <a:lnTo>
                  <a:pt x="3505200" y="132587"/>
                </a:lnTo>
                <a:lnTo>
                  <a:pt x="3505200" y="0"/>
                </a:lnTo>
                <a:lnTo>
                  <a:pt x="0" y="0"/>
                </a:lnTo>
                <a:lnTo>
                  <a:pt x="0" y="132587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1051560" y="740663"/>
            <a:ext cx="3302508" cy="53842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4881371" y="615695"/>
            <a:ext cx="2759964" cy="11490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95DD1-DC07-7841-AE24-0D42CA0B3167}" type="datetime3">
              <a:rPr lang="en-IN" smtClean="0"/>
              <a:t>12 January 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5852" y="2712212"/>
            <a:ext cx="6432295" cy="100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BC5C4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9159" y="1432001"/>
            <a:ext cx="7145680" cy="4013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D6917-8572-344E-84AF-4290321C9DE4}" type="datetime3">
              <a:rPr lang="en-IN" smtClean="0"/>
              <a:t>12 January 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8600" y="0"/>
            <a:ext cx="195580" cy="6858000"/>
          </a:xfrm>
          <a:custGeom>
            <a:avLst/>
            <a:gdLst/>
            <a:ahLst/>
            <a:cxnLst/>
            <a:rect l="l" t="t" r="r" b="b"/>
            <a:pathLst>
              <a:path w="195579" h="6858000">
                <a:moveTo>
                  <a:pt x="0" y="6858000"/>
                </a:moveTo>
                <a:lnTo>
                  <a:pt x="195072" y="6858000"/>
                </a:lnTo>
                <a:lnTo>
                  <a:pt x="19507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14272" y="0"/>
            <a:ext cx="1481455" cy="601980"/>
          </a:xfrm>
          <a:custGeom>
            <a:avLst/>
            <a:gdLst/>
            <a:ahLst/>
            <a:cxnLst/>
            <a:rect l="l" t="t" r="r" b="b"/>
            <a:pathLst>
              <a:path w="1481455" h="601980">
                <a:moveTo>
                  <a:pt x="0" y="601980"/>
                </a:moveTo>
                <a:lnTo>
                  <a:pt x="1481328" y="601980"/>
                </a:lnTo>
                <a:lnTo>
                  <a:pt x="1481328" y="0"/>
                </a:lnTo>
                <a:lnTo>
                  <a:pt x="0" y="0"/>
                </a:lnTo>
                <a:lnTo>
                  <a:pt x="0" y="60198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14272" y="6249923"/>
            <a:ext cx="1481455" cy="608330"/>
          </a:xfrm>
          <a:custGeom>
            <a:avLst/>
            <a:gdLst/>
            <a:ahLst/>
            <a:cxnLst/>
            <a:rect l="l" t="t" r="r" b="b"/>
            <a:pathLst>
              <a:path w="1481455" h="608329">
                <a:moveTo>
                  <a:pt x="0" y="608075"/>
                </a:moveTo>
                <a:lnTo>
                  <a:pt x="1481328" y="608075"/>
                </a:lnTo>
                <a:lnTo>
                  <a:pt x="1481328" y="0"/>
                </a:lnTo>
                <a:lnTo>
                  <a:pt x="0" y="0"/>
                </a:lnTo>
                <a:lnTo>
                  <a:pt x="0" y="608075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3672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2272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9400" y="6249923"/>
            <a:ext cx="1524000" cy="608330"/>
          </a:xfrm>
          <a:custGeom>
            <a:avLst/>
            <a:gdLst/>
            <a:ahLst/>
            <a:cxnLst/>
            <a:rect l="l" t="t" r="r" b="b"/>
            <a:pathLst>
              <a:path w="1524000" h="608329">
                <a:moveTo>
                  <a:pt x="0" y="608075"/>
                </a:moveTo>
                <a:lnTo>
                  <a:pt x="1524000" y="608075"/>
                </a:lnTo>
                <a:lnTo>
                  <a:pt x="1524000" y="0"/>
                </a:lnTo>
                <a:lnTo>
                  <a:pt x="0" y="0"/>
                </a:lnTo>
                <a:lnTo>
                  <a:pt x="0" y="608075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-6350" y="267319"/>
            <a:ext cx="9156700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61332" y="0"/>
            <a:ext cx="3679190" cy="6250305"/>
          </a:xfrm>
          <a:custGeom>
            <a:avLst/>
            <a:gdLst/>
            <a:ahLst/>
            <a:cxnLst/>
            <a:rect l="l" t="t" r="r" b="b"/>
            <a:pathLst>
              <a:path w="3679190" h="6250305">
                <a:moveTo>
                  <a:pt x="0" y="6249924"/>
                </a:moveTo>
                <a:lnTo>
                  <a:pt x="3678936" y="6249924"/>
                </a:lnTo>
                <a:lnTo>
                  <a:pt x="3678936" y="0"/>
                </a:lnTo>
                <a:lnTo>
                  <a:pt x="0" y="0"/>
                </a:lnTo>
                <a:lnTo>
                  <a:pt x="0" y="624992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1332" y="0"/>
            <a:ext cx="3679190" cy="6250305"/>
          </a:xfrm>
          <a:custGeom>
            <a:avLst/>
            <a:gdLst/>
            <a:ahLst/>
            <a:cxnLst/>
            <a:rect l="l" t="t" r="r" b="b"/>
            <a:pathLst>
              <a:path w="3679190" h="6250305">
                <a:moveTo>
                  <a:pt x="0" y="6249924"/>
                </a:moveTo>
                <a:lnTo>
                  <a:pt x="3678936" y="6249924"/>
                </a:lnTo>
                <a:lnTo>
                  <a:pt x="3678936" y="0"/>
                </a:lnTo>
              </a:path>
            </a:pathLst>
          </a:custGeom>
          <a:ln w="15240">
            <a:solidFill>
              <a:srgbClr val="7A7A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61332" y="0"/>
            <a:ext cx="0" cy="6250305"/>
          </a:xfrm>
          <a:custGeom>
            <a:avLst/>
            <a:gdLst/>
            <a:ahLst/>
            <a:cxnLst/>
            <a:rect l="l" t="t" r="r" b="b"/>
            <a:pathLst>
              <a:path h="6250305">
                <a:moveTo>
                  <a:pt x="0" y="0"/>
                </a:moveTo>
                <a:lnTo>
                  <a:pt x="0" y="6249924"/>
                </a:lnTo>
              </a:path>
            </a:pathLst>
          </a:custGeom>
          <a:ln w="15240">
            <a:solidFill>
              <a:srgbClr val="7A7A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49723" y="0"/>
            <a:ext cx="3505200" cy="2292350"/>
          </a:xfrm>
          <a:custGeom>
            <a:avLst/>
            <a:gdLst/>
            <a:ahLst/>
            <a:cxnLst/>
            <a:rect l="l" t="t" r="r" b="b"/>
            <a:pathLst>
              <a:path w="3505200" h="2292350">
                <a:moveTo>
                  <a:pt x="0" y="2292096"/>
                </a:moveTo>
                <a:lnTo>
                  <a:pt x="3505200" y="2292096"/>
                </a:lnTo>
                <a:lnTo>
                  <a:pt x="3505200" y="0"/>
                </a:lnTo>
                <a:lnTo>
                  <a:pt x="0" y="0"/>
                </a:lnTo>
                <a:lnTo>
                  <a:pt x="0" y="2292096"/>
                </a:lnTo>
                <a:close/>
              </a:path>
            </a:pathLst>
          </a:custGeom>
          <a:solidFill>
            <a:srgbClr val="6212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49723" y="6097523"/>
            <a:ext cx="3505200" cy="132715"/>
          </a:xfrm>
          <a:custGeom>
            <a:avLst/>
            <a:gdLst/>
            <a:ahLst/>
            <a:cxnLst/>
            <a:rect l="l" t="t" r="r" b="b"/>
            <a:pathLst>
              <a:path w="3505200" h="132714">
                <a:moveTo>
                  <a:pt x="0" y="132587"/>
                </a:moveTo>
                <a:lnTo>
                  <a:pt x="3505200" y="132587"/>
                </a:lnTo>
                <a:lnTo>
                  <a:pt x="3505200" y="0"/>
                </a:lnTo>
                <a:lnTo>
                  <a:pt x="0" y="0"/>
                </a:lnTo>
                <a:lnTo>
                  <a:pt x="0" y="132587"/>
                </a:lnTo>
                <a:close/>
              </a:path>
            </a:pathLst>
          </a:custGeom>
          <a:solidFill>
            <a:srgbClr val="6212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81371" y="615695"/>
            <a:ext cx="2759964" cy="1149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12919" y="3350717"/>
            <a:ext cx="2816860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500" spc="-130" dirty="0">
                <a:solidFill>
                  <a:srgbClr val="6212AA"/>
                </a:solidFill>
                <a:latin typeface="Verdana"/>
                <a:cs typeface="Verdana"/>
              </a:rPr>
              <a:t>Introduction to Web</a:t>
            </a:r>
            <a:endParaRPr sz="2500" dirty="0">
              <a:solidFill>
                <a:srgbClr val="6212AA"/>
              </a:solidFill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5619" y="4450842"/>
            <a:ext cx="2651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86385">
              <a:lnSpc>
                <a:spcPct val="100000"/>
              </a:lnSpc>
              <a:spcBef>
                <a:spcPts val="100"/>
              </a:spcBef>
              <a:buClr>
                <a:srgbClr val="6212AA"/>
              </a:buClr>
              <a:buSzPct val="75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lang="en-US" sz="1800" spc="-35" dirty="0">
                <a:solidFill>
                  <a:srgbClr val="424242"/>
                </a:solidFill>
                <a:latin typeface="Verdana"/>
                <a:cs typeface="Verdana"/>
              </a:rPr>
              <a:t>Introduction to Full Stack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878070" y="2738373"/>
            <a:ext cx="1409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solidFill>
                  <a:srgbClr val="6212AA"/>
                </a:solidFill>
              </a:rPr>
              <a:t>Le</a:t>
            </a:r>
            <a:r>
              <a:rPr sz="2400" spc="50" dirty="0">
                <a:solidFill>
                  <a:srgbClr val="6212AA"/>
                </a:solidFill>
              </a:rPr>
              <a:t>c</a:t>
            </a:r>
            <a:r>
              <a:rPr sz="2400" spc="-75" dirty="0">
                <a:solidFill>
                  <a:srgbClr val="6212AA"/>
                </a:solidFill>
              </a:rPr>
              <a:t>t</a:t>
            </a:r>
            <a:r>
              <a:rPr sz="2400" spc="-114" dirty="0">
                <a:solidFill>
                  <a:srgbClr val="6212AA"/>
                </a:solidFill>
              </a:rPr>
              <a:t>u</a:t>
            </a:r>
            <a:r>
              <a:rPr sz="2400" spc="-90" dirty="0">
                <a:solidFill>
                  <a:srgbClr val="6212AA"/>
                </a:solidFill>
              </a:rPr>
              <a:t>re</a:t>
            </a:r>
            <a:r>
              <a:rPr sz="2400" spc="-300" dirty="0">
                <a:solidFill>
                  <a:srgbClr val="6212AA"/>
                </a:solidFill>
              </a:rPr>
              <a:t>-</a:t>
            </a:r>
            <a:r>
              <a:rPr lang="en-US" sz="2400" spc="-200" dirty="0">
                <a:solidFill>
                  <a:srgbClr val="6212AA"/>
                </a:solidFill>
              </a:rPr>
              <a:t>1</a:t>
            </a:r>
            <a:endParaRPr sz="2400" dirty="0">
              <a:solidFill>
                <a:srgbClr val="6212AA"/>
              </a:solidFill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3200" y="5748020"/>
            <a:ext cx="13836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400">
                <a:latin typeface="Verdana"/>
                <a:cs typeface="Verdana"/>
              </a:rPr>
              <a:t>Kartik Mathur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9FE03E-2D02-E3E7-399B-90486973D2ED}"/>
              </a:ext>
            </a:extLst>
          </p:cNvPr>
          <p:cNvGrpSpPr/>
          <p:nvPr/>
        </p:nvGrpSpPr>
        <p:grpSpPr>
          <a:xfrm>
            <a:off x="239017" y="493217"/>
            <a:ext cx="4233925" cy="5714999"/>
            <a:chOff x="545336" y="685801"/>
            <a:chExt cx="3923539" cy="5181600"/>
          </a:xfrm>
        </p:grpSpPr>
        <p:sp>
          <p:nvSpPr>
            <p:cNvPr id="14" name="object 14"/>
            <p:cNvSpPr/>
            <p:nvPr/>
          </p:nvSpPr>
          <p:spPr>
            <a:xfrm>
              <a:off x="545337" y="685801"/>
              <a:ext cx="3923538" cy="5181600"/>
            </a:xfrm>
            <a:custGeom>
              <a:avLst/>
              <a:gdLst/>
              <a:ahLst/>
              <a:cxnLst/>
              <a:rect l="l" t="t" r="r" b="b"/>
              <a:pathLst>
                <a:path w="3563620" h="5648325">
                  <a:moveTo>
                    <a:pt x="0" y="5647944"/>
                  </a:moveTo>
                  <a:lnTo>
                    <a:pt x="3563112" y="5647944"/>
                  </a:lnTo>
                  <a:lnTo>
                    <a:pt x="3563112" y="0"/>
                  </a:lnTo>
                  <a:lnTo>
                    <a:pt x="0" y="0"/>
                  </a:lnTo>
                  <a:lnTo>
                    <a:pt x="0" y="56479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45336" y="685801"/>
              <a:ext cx="3911221" cy="5181600"/>
            </a:xfrm>
            <a:custGeom>
              <a:avLst/>
              <a:gdLst/>
              <a:ahLst/>
              <a:cxnLst/>
              <a:rect l="l" t="t" r="r" b="b"/>
              <a:pathLst>
                <a:path w="3563620" h="5648325">
                  <a:moveTo>
                    <a:pt x="0" y="5647944"/>
                  </a:moveTo>
                  <a:lnTo>
                    <a:pt x="3563112" y="5647944"/>
                  </a:lnTo>
                  <a:lnTo>
                    <a:pt x="3563112" y="0"/>
                  </a:lnTo>
                  <a:lnTo>
                    <a:pt x="0" y="0"/>
                  </a:lnTo>
                  <a:lnTo>
                    <a:pt x="0" y="56479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D603377-56FC-B050-C96D-9A3014842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2272" y="793494"/>
              <a:ext cx="3715895" cy="4954526"/>
            </a:xfrm>
            <a:prstGeom prst="rect">
              <a:avLst/>
            </a:prstGeom>
          </p:spPr>
        </p:pic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A593D61-EE5E-79D3-CE7B-69807DEF64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9D8B4-37F4-8EEA-0CC9-250B3390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E29914-7F13-1209-DB61-AD2E161C5DEA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366BBE4-CB5E-BA95-0DDB-1CA6BA62FB2B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0176CA-DC93-42F8-77E2-5648CEFA6C14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C81EA0F-320C-CB2F-7198-8635D1EA78E8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0F2F77-9414-0B88-66B3-A00FEB055467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F9A441A-BB91-C911-C2A4-A86E822C843F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2B54E4E-142E-FFEE-67D2-3F2CD18BE24E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E617642-E166-3815-84EE-67321F3842ED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C2C35AB-0DFE-A4C5-BDAA-14DBC0B9D51C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C4C1ADF-FA79-116E-40DE-6460DCCEF395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6580A76-85D3-D050-6572-428C386D9487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4096C6E-05D2-0608-83CF-D6D7D62304F0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5EA25BB-67A0-795B-2E21-53796B8FD5C7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E3362E8-1482-EF51-3875-20DA743F771E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53FD3F7-D106-7008-CAB2-5BFEA6AC818E}"/>
              </a:ext>
            </a:extLst>
          </p:cNvPr>
          <p:cNvSpPr/>
          <p:nvPr/>
        </p:nvSpPr>
        <p:spPr>
          <a:xfrm>
            <a:off x="39757" y="307528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AB9CBDB-C7F3-0DD5-A30C-56FAC36C14F3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CB9C2B8-465E-BC21-E548-F3FD5A0B636D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ln w="6096">
            <a:solidFill>
              <a:srgbClr val="EE5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66CDDAC-9FC8-FEEF-309D-04087A81112B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CFCA422-3FBE-6D53-A425-AA79115FAD3A}"/>
              </a:ext>
            </a:extLst>
          </p:cNvPr>
          <p:cNvSpPr txBox="1"/>
          <p:nvPr/>
        </p:nvSpPr>
        <p:spPr>
          <a:xfrm>
            <a:off x="1099121" y="637034"/>
            <a:ext cx="65328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6212AA"/>
                </a:solidFill>
                <a:latin typeface="Courier New"/>
                <a:cs typeface="Courier New"/>
              </a:rPr>
              <a:t>Syllabus</a:t>
            </a:r>
            <a:endParaRPr sz="2400" b="1" dirty="0">
              <a:solidFill>
                <a:srgbClr val="6212AA"/>
              </a:solidFill>
              <a:latin typeface="Courier New"/>
              <a:cs typeface="Courier New"/>
            </a:endParaRPr>
          </a:p>
        </p:txBody>
      </p:sp>
      <p:pic>
        <p:nvPicPr>
          <p:cNvPr id="25" name="Picture 6" descr="HTML5 Icon in Social Media &amp; Logos">
            <a:extLst>
              <a:ext uri="{FF2B5EF4-FFF2-40B4-BE49-F238E27FC236}">
                <a16:creationId xmlns:a16="http://schemas.microsoft.com/office/drawing/2014/main" id="{FCA841E3-B433-784D-7FBF-9CC6DA0EF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DE2032B-361F-11B5-D6CA-D08BC244C22C}"/>
              </a:ext>
            </a:extLst>
          </p:cNvPr>
          <p:cNvSpPr txBox="1"/>
          <p:nvPr/>
        </p:nvSpPr>
        <p:spPr>
          <a:xfrm>
            <a:off x="1219200" y="1295400"/>
            <a:ext cx="5638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FRONT END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HTML/CSS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JS – Mostly asked in interviews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jQuery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Bootstrap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ReactJS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Next JS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Tailwind - CSS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TypeScript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AXIOS/FETCH</a:t>
            </a:r>
          </a:p>
        </p:txBody>
      </p:sp>
    </p:spTree>
    <p:extLst>
      <p:ext uri="{BB962C8B-B14F-4D97-AF65-F5344CB8AC3E}">
        <p14:creationId xmlns:p14="http://schemas.microsoft.com/office/powerpoint/2010/main" val="3916205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E241-3FCD-2442-A6F6-7EAF286C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E7C067-AFB0-99F7-D384-F40FA85F4339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227D898-4C6D-24D3-2AF2-737C1073D5DA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AC082F1-4CC5-70CF-D73E-948107A84BF0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48562EC-0686-12F5-9A3B-0B7C453D7B41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363BEFD-DFCA-BCE9-9EC0-B23FCA6D33BD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0EF1DC-A73C-D0C6-015F-F157D898E357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948DF47-2335-56CB-74B3-B2307AB8E796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254660A-DA6F-F52F-3FBF-4C1A374F0FB0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E543CB0-D4D8-95B7-F1AD-0C2249A798A4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0EF2A28-366D-A619-2281-9CD9C4A643A0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42514F8-931D-25C7-9B27-CAE3E65D7F84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98CD5BD-E373-FF66-FF33-DEAC72E5EF01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89AA4A2-648F-9AB2-BDAB-A89080E3C2FA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E66B1E5-C198-D5E7-373E-D1F2FC00C140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31AA5A2-4092-4D49-9F0E-513E6414792A}"/>
              </a:ext>
            </a:extLst>
          </p:cNvPr>
          <p:cNvSpPr/>
          <p:nvPr/>
        </p:nvSpPr>
        <p:spPr>
          <a:xfrm>
            <a:off x="43942" y="276123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810A175-92CD-B11F-E8B0-52BAF47F0AFF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F44F8B5-59CE-170F-1409-AC4D6F6316AD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ln w="6096">
            <a:solidFill>
              <a:srgbClr val="EE5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26E2C7A-4A16-E43C-FAA1-AE193D273E08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0D67BDF-54F2-16EE-F63C-38C85B91EAE2}"/>
              </a:ext>
            </a:extLst>
          </p:cNvPr>
          <p:cNvSpPr txBox="1"/>
          <p:nvPr/>
        </p:nvSpPr>
        <p:spPr>
          <a:xfrm>
            <a:off x="1099121" y="637034"/>
            <a:ext cx="65328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6212AA"/>
                </a:solidFill>
                <a:latin typeface="Courier New"/>
                <a:cs typeface="Courier New"/>
              </a:rPr>
              <a:t>Syllabus</a:t>
            </a:r>
            <a:endParaRPr sz="2400" b="1" dirty="0">
              <a:solidFill>
                <a:srgbClr val="6212AA"/>
              </a:solidFill>
              <a:latin typeface="Courier New"/>
              <a:cs typeface="Courier New"/>
            </a:endParaRPr>
          </a:p>
        </p:txBody>
      </p:sp>
      <p:pic>
        <p:nvPicPr>
          <p:cNvPr id="25" name="Picture 6" descr="HTML5 Icon in Social Media &amp; Logos">
            <a:extLst>
              <a:ext uri="{FF2B5EF4-FFF2-40B4-BE49-F238E27FC236}">
                <a16:creationId xmlns:a16="http://schemas.microsoft.com/office/drawing/2014/main" id="{6958987D-A64B-0D5C-D2D7-86D39B57F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14D749C-205A-E5BE-B6E9-25A9E7B8D7B3}"/>
              </a:ext>
            </a:extLst>
          </p:cNvPr>
          <p:cNvSpPr txBox="1"/>
          <p:nvPr/>
        </p:nvSpPr>
        <p:spPr>
          <a:xfrm>
            <a:off x="1219200" y="1295400"/>
            <a:ext cx="5638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Backend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Node JS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MongoDB and Mongoose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Postgres SQL and Prisma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GraphQL: API Query language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WebSocket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Authentication: JWT/Google etc.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F3F8DE-1D66-527F-FBE8-8A8F82CE7B95}"/>
              </a:ext>
            </a:extLst>
          </p:cNvPr>
          <p:cNvSpPr txBox="1"/>
          <p:nvPr/>
        </p:nvSpPr>
        <p:spPr>
          <a:xfrm>
            <a:off x="1219200" y="3394150"/>
            <a:ext cx="5638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Projects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Spotify Clone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Todo List – Multiple ways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URL Shortener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Chat APP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Text – Editor using </a:t>
            </a:r>
            <a:r>
              <a:rPr lang="en-US" dirty="0" err="1"/>
              <a:t>Draft.js</a:t>
            </a:r>
            <a:endParaRPr 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Blog Management System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Medium Clone/E-commerce Clone or any similar project.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CAPSTONE PROJECT: Students can decide.</a:t>
            </a:r>
          </a:p>
        </p:txBody>
      </p:sp>
    </p:spTree>
    <p:extLst>
      <p:ext uri="{BB962C8B-B14F-4D97-AF65-F5344CB8AC3E}">
        <p14:creationId xmlns:p14="http://schemas.microsoft.com/office/powerpoint/2010/main" val="258605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D23F3-432D-74A4-B1EB-79F1215FD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BD1CC9-CFFC-7E38-C940-84C5525C0FD3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9044705-529C-4E8F-5BF9-7F4BAE865222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77FA021-4EF0-3142-EDAE-67176F37FB84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B427C9D-A1D1-1520-C72B-5258254E3D2D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541C31A-FC9F-A1A3-7E44-BEC0C0090D49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A174644-9F42-6B30-6FE1-85D08CF90650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E006E8E-F48F-EB58-8746-7A22D70FC24F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EEA1553-8FE8-B7F8-85D8-E31EA9387B31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81C877D-BBC8-8AEA-A445-9CED50D4FE96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D8D92AF-4C5B-00E4-A280-82B96BCB7D65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36972DF-A96B-902A-B2B1-424CE2FE44A4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E32686F-8BE2-068F-C945-615962AB0DCD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F675177-6E40-4562-1224-E5B1320704B1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E613D14-EE86-052A-6C84-5E5C2A958761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2D1BFDC-5ADC-D359-7417-82181EAC36CC}"/>
              </a:ext>
            </a:extLst>
          </p:cNvPr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054082D-3844-F940-08ED-62709698C554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B4E294B-9FA5-043A-2EEE-BF40B1EC0D00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ln w="6096">
            <a:solidFill>
              <a:srgbClr val="EE5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743C59B-08B7-F0E6-08C6-30B91BA17FB7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27A6E26-9921-CCD9-11DE-B269B62784D6}"/>
              </a:ext>
            </a:extLst>
          </p:cNvPr>
          <p:cNvSpPr txBox="1"/>
          <p:nvPr/>
        </p:nvSpPr>
        <p:spPr>
          <a:xfrm>
            <a:off x="1099121" y="637034"/>
            <a:ext cx="65328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6212AA"/>
                </a:solidFill>
                <a:latin typeface="Courier New"/>
                <a:cs typeface="Courier New"/>
              </a:rPr>
              <a:t>Syllabus</a:t>
            </a:r>
            <a:endParaRPr sz="2400" b="1" dirty="0">
              <a:solidFill>
                <a:srgbClr val="6212AA"/>
              </a:solidFill>
              <a:latin typeface="Courier New"/>
              <a:cs typeface="Courier New"/>
            </a:endParaRPr>
          </a:p>
        </p:txBody>
      </p:sp>
      <p:pic>
        <p:nvPicPr>
          <p:cNvPr id="25" name="Picture 6" descr="HTML5 Icon in Social Media &amp; Logos">
            <a:extLst>
              <a:ext uri="{FF2B5EF4-FFF2-40B4-BE49-F238E27FC236}">
                <a16:creationId xmlns:a16="http://schemas.microsoft.com/office/drawing/2014/main" id="{14625995-433C-220A-3C16-4EEA723F9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5BDC6EA-31BB-F41D-8583-0548B3DB9F94}"/>
              </a:ext>
            </a:extLst>
          </p:cNvPr>
          <p:cNvSpPr txBox="1"/>
          <p:nvPr/>
        </p:nvSpPr>
        <p:spPr>
          <a:xfrm>
            <a:off x="1219200" y="1295400"/>
            <a:ext cx="563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Deployment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AWS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299F53-81CD-0794-A2C5-00F45A73C15A}"/>
              </a:ext>
            </a:extLst>
          </p:cNvPr>
          <p:cNvSpPr txBox="1"/>
          <p:nvPr/>
        </p:nvSpPr>
        <p:spPr>
          <a:xfrm>
            <a:off x="1219200" y="2805268"/>
            <a:ext cx="563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Testing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Chai/Mocha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14A713-0CE2-A7F6-A593-B2EEEDFC844B}"/>
              </a:ext>
            </a:extLst>
          </p:cNvPr>
          <p:cNvSpPr txBox="1"/>
          <p:nvPr/>
        </p:nvSpPr>
        <p:spPr>
          <a:xfrm>
            <a:off x="1213891" y="4374141"/>
            <a:ext cx="563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Hackathons – Minimum:3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To build projects during the limited time frame.</a:t>
            </a:r>
          </a:p>
        </p:txBody>
      </p:sp>
    </p:spTree>
    <p:extLst>
      <p:ext uri="{BB962C8B-B14F-4D97-AF65-F5344CB8AC3E}">
        <p14:creationId xmlns:p14="http://schemas.microsoft.com/office/powerpoint/2010/main" val="925630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3A61-99C5-C91F-BFBD-638789B12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C45FBF-F869-8CDA-5210-FB6A4D0C3A8F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C77FCD3-5ED5-3E38-BA5E-05BD2F4ADE2A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B0473C-18AC-35D1-E3B7-79252DA9D2ED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F3A5CA0-C1F5-7F96-A779-4E4970015ACA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1B5DBE6-AC5B-6077-C8A9-6F12BAE61A44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842679D-DC2C-083F-C517-910E71571DB0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5D8ADE2-30F2-8E61-F588-EB1E11E115C6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E8B1207-0709-AFB9-8B08-2018267F0F39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27402ED-CF1E-A1E4-419D-DC50E8531D84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77AED87-2561-3891-0E9E-C25259EE21A9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E2B3A7F-D905-8938-F723-C6FC4AB0FFF1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A91ADA1-4461-538F-0A29-B03BBE277E48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F7F5CB7-1B50-6C97-F6F3-89282345A09A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6FEF292-C4ED-C483-6E73-CB0B2D3361D6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07DB192-FC68-9EA4-8D96-F19F72433DB6}"/>
              </a:ext>
            </a:extLst>
          </p:cNvPr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017B3FA-67B8-1B50-88A6-4ED58F6D85B0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A09986E-AD19-BE78-4867-5A04DC4A684A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ln w="6096">
            <a:solidFill>
              <a:srgbClr val="EE5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A971781-9EFE-8E2F-BEB0-31008F4B911A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623E118-0497-09E6-06BD-0052EE7403E3}"/>
              </a:ext>
            </a:extLst>
          </p:cNvPr>
          <p:cNvSpPr txBox="1"/>
          <p:nvPr/>
        </p:nvSpPr>
        <p:spPr>
          <a:xfrm>
            <a:off x="1099121" y="637034"/>
            <a:ext cx="65328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6212AA"/>
                </a:solidFill>
                <a:latin typeface="Courier New"/>
                <a:cs typeface="Courier New"/>
              </a:rPr>
              <a:t>Software</a:t>
            </a:r>
            <a:endParaRPr sz="2400" b="1" dirty="0">
              <a:solidFill>
                <a:srgbClr val="6212AA"/>
              </a:solidFill>
              <a:latin typeface="Courier New"/>
              <a:cs typeface="Courier New"/>
            </a:endParaRPr>
          </a:p>
        </p:txBody>
      </p:sp>
      <p:pic>
        <p:nvPicPr>
          <p:cNvPr id="25" name="Picture 6" descr="HTML5 Icon in Social Media &amp; Logos">
            <a:extLst>
              <a:ext uri="{FF2B5EF4-FFF2-40B4-BE49-F238E27FC236}">
                <a16:creationId xmlns:a16="http://schemas.microsoft.com/office/drawing/2014/main" id="{F6C934CC-3FF1-055A-63BA-734516204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B9542C-490F-F301-27FF-7F231940A6D6}"/>
              </a:ext>
            </a:extLst>
          </p:cNvPr>
          <p:cNvSpPr txBox="1"/>
          <p:nvPr/>
        </p:nvSpPr>
        <p:spPr>
          <a:xfrm>
            <a:off x="1219200" y="1295400"/>
            <a:ext cx="563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Visual Studio Code Download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r>
              <a:rPr lang="en-US" dirty="0"/>
              <a:t>GOOGLE “DOWNLOAD VISUAL STUDIO CODE”</a:t>
            </a:r>
          </a:p>
        </p:txBody>
      </p:sp>
    </p:spTree>
    <p:extLst>
      <p:ext uri="{BB962C8B-B14F-4D97-AF65-F5344CB8AC3E}">
        <p14:creationId xmlns:p14="http://schemas.microsoft.com/office/powerpoint/2010/main" val="407333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0B79-6F2E-8A98-42EE-3660FF96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9E8B89-4206-DB83-8C20-C8C1B116FEB0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8F0CE66-9013-4188-41E5-457B84890DF1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A6E3EA3-6099-7CEF-FDFF-9A76E530AF0B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7036BE2-3933-A373-EE98-CCBC6F24D0CE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7CC5BC1-15FE-3B79-0A79-8EE7313C5F4C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23D7E67-0BAA-CD87-78DB-15FBB826CCC2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4CCD837-431E-ED80-D19C-BDAF83C26F3D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D6A9950-6C84-2028-6A3A-1DEE39F2F580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F644BBC-81B4-00BF-DBD8-FFCAF263008F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FFD609E-964B-D276-EA2E-EBE46EEBF728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358ED42-2665-B1D5-0796-A93988B0118B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1EE0E55-080B-37BF-EBB2-81489B1FEA42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93FA4B4-5707-2D11-91B2-15EC92C74B7B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125B2AA-FC9A-9672-500B-AFFC0D445ED7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D3D7EFA-26DD-7652-34F1-A825895B822F}"/>
              </a:ext>
            </a:extLst>
          </p:cNvPr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C74E7B-4A79-B972-D919-65153A96CF17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lang="en-IN"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3F63D67-D16F-6C57-52F2-FC98C0C70D2F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ln w="6096">
            <a:solidFill>
              <a:srgbClr val="EE5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C99F67A-4548-B7EF-F62C-4B4DE4D59C56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98ECC32-CED8-4917-D5D3-5C07F6111AF0}"/>
              </a:ext>
            </a:extLst>
          </p:cNvPr>
          <p:cNvSpPr txBox="1"/>
          <p:nvPr/>
        </p:nvSpPr>
        <p:spPr>
          <a:xfrm>
            <a:off x="1099121" y="637034"/>
            <a:ext cx="65328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6212AA"/>
                </a:solidFill>
                <a:latin typeface="Courier New"/>
                <a:cs typeface="Courier New"/>
              </a:rPr>
              <a:t>Extensions</a:t>
            </a:r>
          </a:p>
        </p:txBody>
      </p:sp>
      <p:pic>
        <p:nvPicPr>
          <p:cNvPr id="25" name="Picture 6" descr="HTML5 Icon in Social Media &amp; Logos">
            <a:extLst>
              <a:ext uri="{FF2B5EF4-FFF2-40B4-BE49-F238E27FC236}">
                <a16:creationId xmlns:a16="http://schemas.microsoft.com/office/drawing/2014/main" id="{10351994-5017-B6C5-C20C-3003358D3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1D7BDCA-9903-173E-49F2-2818DA0BF94A}"/>
              </a:ext>
            </a:extLst>
          </p:cNvPr>
          <p:cNvSpPr txBox="1"/>
          <p:nvPr/>
        </p:nvSpPr>
        <p:spPr>
          <a:xfrm>
            <a:off x="1219200" y="2805268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</p:txBody>
      </p:sp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9B9806A3-5965-F317-3C5E-6A2161E428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" t="5819" r="57858" b="20082"/>
          <a:stretch/>
        </p:blipFill>
        <p:spPr>
          <a:xfrm>
            <a:off x="716317" y="1030347"/>
            <a:ext cx="3919728" cy="52151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0A79F5A-EC51-22A8-C863-98A8B80F00BB}"/>
              </a:ext>
            </a:extLst>
          </p:cNvPr>
          <p:cNvSpPr txBox="1"/>
          <p:nvPr/>
        </p:nvSpPr>
        <p:spPr>
          <a:xfrm>
            <a:off x="3385029" y="317787"/>
            <a:ext cx="578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Type these names in search box at top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D3E8810-E885-01C9-E530-C44812D5084C}"/>
              </a:ext>
            </a:extLst>
          </p:cNvPr>
          <p:cNvCxnSpPr>
            <a:stCxn id="26" idx="1"/>
          </p:cNvCxnSpPr>
          <p:nvPr/>
        </p:nvCxnSpPr>
        <p:spPr>
          <a:xfrm flipH="1">
            <a:off x="2249678" y="502453"/>
            <a:ext cx="1135351" cy="12569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Right Brace 28">
            <a:extLst>
              <a:ext uri="{FF2B5EF4-FFF2-40B4-BE49-F238E27FC236}">
                <a16:creationId xmlns:a16="http://schemas.microsoft.com/office/drawing/2014/main" id="{B6F092F0-62DC-C709-EE0E-EDD8CDC0844B}"/>
              </a:ext>
            </a:extLst>
          </p:cNvPr>
          <p:cNvSpPr/>
          <p:nvPr/>
        </p:nvSpPr>
        <p:spPr>
          <a:xfrm>
            <a:off x="3276600" y="2286000"/>
            <a:ext cx="153162" cy="304800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2449AD0A-5FF4-4323-8FCD-B808AE533C36}"/>
              </a:ext>
            </a:extLst>
          </p:cNvPr>
          <p:cNvSpPr/>
          <p:nvPr/>
        </p:nvSpPr>
        <p:spPr>
          <a:xfrm>
            <a:off x="3581400" y="3236668"/>
            <a:ext cx="153162" cy="304800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578E3B48-6725-CF7E-9CA6-0754757CAEB8}"/>
              </a:ext>
            </a:extLst>
          </p:cNvPr>
          <p:cNvSpPr/>
          <p:nvPr/>
        </p:nvSpPr>
        <p:spPr>
          <a:xfrm>
            <a:off x="3450399" y="4220483"/>
            <a:ext cx="153162" cy="304800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A screenshot of a computer&#10;&#10;Description automatically generated">
            <a:extLst>
              <a:ext uri="{FF2B5EF4-FFF2-40B4-BE49-F238E27FC236}">
                <a16:creationId xmlns:a16="http://schemas.microsoft.com/office/drawing/2014/main" id="{AE3D0FEE-EBD9-0D46-A32B-031950540D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429"/>
          <a:stretch/>
        </p:blipFill>
        <p:spPr>
          <a:xfrm>
            <a:off x="4852363" y="2337320"/>
            <a:ext cx="3607135" cy="1340384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634CF8-F3B3-BDB9-D57D-31FBE3EB1722}"/>
              </a:ext>
            </a:extLst>
          </p:cNvPr>
          <p:cNvCxnSpPr/>
          <p:nvPr/>
        </p:nvCxnSpPr>
        <p:spPr>
          <a:xfrm flipV="1">
            <a:off x="7265121" y="3437509"/>
            <a:ext cx="151130" cy="828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F70080F-B07F-A6AD-7178-5A592C9D49B0}"/>
              </a:ext>
            </a:extLst>
          </p:cNvPr>
          <p:cNvSpPr txBox="1"/>
          <p:nvPr/>
        </p:nvSpPr>
        <p:spPr>
          <a:xfrm>
            <a:off x="5032502" y="4387062"/>
            <a:ext cx="3426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Click on Install to download extension</a:t>
            </a:r>
          </a:p>
        </p:txBody>
      </p:sp>
      <p:pic>
        <p:nvPicPr>
          <p:cNvPr id="38" name="Picture 3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E892A72-ADB4-767D-FFBC-0C63EDF990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979" y="4975472"/>
            <a:ext cx="3288066" cy="1270000"/>
          </a:xfrm>
          <a:prstGeom prst="rect">
            <a:avLst/>
          </a:prstGeom>
        </p:spPr>
      </p:pic>
      <p:sp>
        <p:nvSpPr>
          <p:cNvPr id="39" name="Right Brace 38">
            <a:extLst>
              <a:ext uri="{FF2B5EF4-FFF2-40B4-BE49-F238E27FC236}">
                <a16:creationId xmlns:a16="http://schemas.microsoft.com/office/drawing/2014/main" id="{54AD624A-A05C-8A47-3EB6-42F73756E011}"/>
              </a:ext>
            </a:extLst>
          </p:cNvPr>
          <p:cNvSpPr/>
          <p:nvPr/>
        </p:nvSpPr>
        <p:spPr>
          <a:xfrm>
            <a:off x="2973832" y="5181600"/>
            <a:ext cx="153162" cy="304800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A yellow tick mark on a black background&#10;&#10;Description automatically generated">
            <a:extLst>
              <a:ext uri="{FF2B5EF4-FFF2-40B4-BE49-F238E27FC236}">
                <a16:creationId xmlns:a16="http://schemas.microsoft.com/office/drawing/2014/main" id="{9495D86B-1D3E-7B2F-B323-B76F3B4C5E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748" y="5667493"/>
            <a:ext cx="54872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5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5FF42-89A2-8811-2356-37B50F59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35E0A2-9021-DC02-A97C-DE152595E5F2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E92865B-608D-A6C8-B30D-3527A9E1DE51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925BC4C-ECC3-7B29-B14C-7E5F199D4E61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90EF643-D77E-85D2-F2F6-915FEFDEC4D8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10FD6F0-200D-5CCD-4445-73D79F9BFD3B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8397F19-E9D5-9F4E-E6A8-5BA057669A8C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A50B627-37F2-72AF-352E-0DFF1FE60A87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3317167-1377-7914-0EA5-0E65C67D4ED7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1F9F2C0-5138-BCF0-4E74-896465186EEC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666731E-CF84-33F4-FEDC-36F7B4019243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B554157-85D0-8B5B-6CA0-0C94400616F5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BEE0994-6D5E-0DA6-AA9F-9E2C0A8B4675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C276CF3-73AA-460A-2330-34E7AD2DCE91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F95F1C5-258E-772E-B66B-68F55A9044D5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BE3D32B-11E2-1978-6A54-07E401818CA6}"/>
              </a:ext>
            </a:extLst>
          </p:cNvPr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FB594C5-B159-7841-5699-A3B07EA07463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B77A296-D10A-2E00-4777-6E473DEA6BFA}"/>
              </a:ext>
            </a:extLst>
          </p:cNvPr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ln w="6096">
            <a:solidFill>
              <a:srgbClr val="EE5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ED5CC-B13A-4E4F-94CB-FE7C8D0322B5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79B5E9D-0F98-3412-7DE7-117B162B00D4}"/>
              </a:ext>
            </a:extLst>
          </p:cNvPr>
          <p:cNvSpPr txBox="1"/>
          <p:nvPr/>
        </p:nvSpPr>
        <p:spPr>
          <a:xfrm>
            <a:off x="2873851" y="3046844"/>
            <a:ext cx="65328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6212AA"/>
                </a:solidFill>
                <a:latin typeface="Courier New"/>
                <a:cs typeface="Courier New"/>
              </a:rPr>
              <a:t>LET’S GET STARTED!</a:t>
            </a:r>
            <a:endParaRPr sz="2400" b="1" dirty="0">
              <a:solidFill>
                <a:srgbClr val="6212AA"/>
              </a:solidFill>
              <a:latin typeface="Courier New"/>
              <a:cs typeface="Courier New"/>
            </a:endParaRPr>
          </a:p>
        </p:txBody>
      </p:sp>
      <p:pic>
        <p:nvPicPr>
          <p:cNvPr id="25" name="Picture 6" descr="HTML5 Icon in Social Media &amp; Logos">
            <a:extLst>
              <a:ext uri="{FF2B5EF4-FFF2-40B4-BE49-F238E27FC236}">
                <a16:creationId xmlns:a16="http://schemas.microsoft.com/office/drawing/2014/main" id="{97B08420-4FB5-0F2F-D209-D7AC63F87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88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457200" y="344424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ln w="6096">
            <a:solidFill>
              <a:srgbClr val="EE5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99121" y="637034"/>
            <a:ext cx="65328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6212AA"/>
                </a:solidFill>
                <a:latin typeface="Courier New"/>
                <a:cs typeface="Courier New"/>
              </a:rPr>
              <a:t>HTML TAGS</a:t>
            </a:r>
            <a:endParaRPr sz="2400" b="1" dirty="0">
              <a:solidFill>
                <a:srgbClr val="6212AA"/>
              </a:solidFill>
              <a:latin typeface="Courier New"/>
              <a:cs typeface="Courier New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F173A7-EDE1-4699-6E19-141BBCD37270}"/>
              </a:ext>
            </a:extLst>
          </p:cNvPr>
          <p:cNvSpPr txBox="1"/>
          <p:nvPr/>
        </p:nvSpPr>
        <p:spPr>
          <a:xfrm>
            <a:off x="1109472" y="1371600"/>
            <a:ext cx="7043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HTML Tags to create the structure of our website.</a:t>
            </a:r>
          </a:p>
        </p:txBody>
      </p:sp>
      <p:pic>
        <p:nvPicPr>
          <p:cNvPr id="4098" name="Picture 2" descr="The HTML Template | OnlineDesignTeacher">
            <a:extLst>
              <a:ext uri="{FF2B5EF4-FFF2-40B4-BE49-F238E27FC236}">
                <a16:creationId xmlns:a16="http://schemas.microsoft.com/office/drawing/2014/main" id="{F4D921EA-5B01-285F-90A9-40FC26046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732" y="1865081"/>
            <a:ext cx="4489450" cy="39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HTML5 Icon in Social Media &amp; Logos">
            <a:extLst>
              <a:ext uri="{FF2B5EF4-FFF2-40B4-BE49-F238E27FC236}">
                <a16:creationId xmlns:a16="http://schemas.microsoft.com/office/drawing/2014/main" id="{395343BF-91BC-46AE-10FC-FA8A69C1C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32432" y="739266"/>
            <a:ext cx="462485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rgbClr val="6212AA"/>
                </a:solidFill>
              </a:rPr>
              <a:t>HTML Heading Tags</a:t>
            </a:r>
            <a:endParaRPr b="1" spc="-50" dirty="0">
              <a:solidFill>
                <a:srgbClr val="6212AA"/>
              </a:solidFill>
            </a:endParaRPr>
          </a:p>
        </p:txBody>
      </p:sp>
      <p:pic>
        <p:nvPicPr>
          <p:cNvPr id="26" name="Picture 2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466FD76-7318-EB66-621E-25678AE1F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32" y="1841157"/>
            <a:ext cx="5715000" cy="3251200"/>
          </a:xfrm>
          <a:prstGeom prst="rect">
            <a:avLst/>
          </a:prstGeom>
        </p:spPr>
      </p:pic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32432" y="739266"/>
            <a:ext cx="462485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rgbClr val="6212AA"/>
                </a:solidFill>
              </a:rPr>
              <a:t>HTML Heading Tags</a:t>
            </a:r>
            <a:endParaRPr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list of black text&#10;&#10;Description automatically generated">
            <a:extLst>
              <a:ext uri="{FF2B5EF4-FFF2-40B4-BE49-F238E27FC236}">
                <a16:creationId xmlns:a16="http://schemas.microsoft.com/office/drawing/2014/main" id="{E4491A9E-1662-A047-C9DB-9768D43A7C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75" y="1953637"/>
            <a:ext cx="61468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0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32432" y="739266"/>
            <a:ext cx="462485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rgbClr val="6212AA"/>
                </a:solidFill>
              </a:rPr>
              <a:t>Paragraph Tag</a:t>
            </a:r>
            <a:endParaRPr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diagram of a coding block&#10;&#10;Description automatically generated">
            <a:extLst>
              <a:ext uri="{FF2B5EF4-FFF2-40B4-BE49-F238E27FC236}">
                <a16:creationId xmlns:a16="http://schemas.microsoft.com/office/drawing/2014/main" id="{F1298660-B87F-1ADF-DBCB-087614CEB1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61" y="1803400"/>
            <a:ext cx="5715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7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32432" y="739266"/>
            <a:ext cx="462485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rgbClr val="6212AA"/>
                </a:solidFill>
              </a:rPr>
              <a:t>Paragraph Tag</a:t>
            </a:r>
            <a:endParaRPr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D1274B1-2103-C7F4-9D5F-66EF639947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32" y="1612204"/>
            <a:ext cx="57277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72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4881" y="372832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581755" y="2817168"/>
            <a:ext cx="526836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What is View Port?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231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700" y="225398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3" y="285873"/>
            <a:ext cx="785885" cy="78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white rectangular object with black border&#10;&#10;Description automatically generated">
            <a:extLst>
              <a:ext uri="{FF2B5EF4-FFF2-40B4-BE49-F238E27FC236}">
                <a16:creationId xmlns:a16="http://schemas.microsoft.com/office/drawing/2014/main" id="{5BF299B5-FF71-8155-B87A-076234FB6A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21" y="990600"/>
            <a:ext cx="7772400" cy="443211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600585-585D-5AD3-D1E8-0F281532903A}"/>
              </a:ext>
            </a:extLst>
          </p:cNvPr>
          <p:cNvCxnSpPr>
            <a:cxnSpLocks/>
          </p:cNvCxnSpPr>
          <p:nvPr/>
        </p:nvCxnSpPr>
        <p:spPr>
          <a:xfrm>
            <a:off x="735521" y="1172114"/>
            <a:ext cx="2914300" cy="142785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6C13F9-FB9C-FCFD-6310-F17C2C257C89}"/>
              </a:ext>
            </a:extLst>
          </p:cNvPr>
          <p:cNvCxnSpPr>
            <a:cxnSpLocks/>
          </p:cNvCxnSpPr>
          <p:nvPr/>
        </p:nvCxnSpPr>
        <p:spPr>
          <a:xfrm flipV="1">
            <a:off x="735521" y="3460115"/>
            <a:ext cx="2998279" cy="19605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3DCE430-5ED5-C191-E8DD-0C05D1768556}"/>
              </a:ext>
            </a:extLst>
          </p:cNvPr>
          <p:cNvCxnSpPr>
            <a:cxnSpLocks/>
          </p:cNvCxnSpPr>
          <p:nvPr/>
        </p:nvCxnSpPr>
        <p:spPr>
          <a:xfrm flipH="1" flipV="1">
            <a:off x="5081301" y="3429000"/>
            <a:ext cx="3426620" cy="199165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58698A7-ACC0-617E-7433-1EA7D1E204EE}"/>
              </a:ext>
            </a:extLst>
          </p:cNvPr>
          <p:cNvCxnSpPr>
            <a:cxnSpLocks/>
          </p:cNvCxnSpPr>
          <p:nvPr/>
        </p:nvCxnSpPr>
        <p:spPr>
          <a:xfrm flipH="1">
            <a:off x="5081301" y="1194339"/>
            <a:ext cx="3426620" cy="141040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540B2F8-F0CF-A27A-F3CA-EB32646A0BAF}"/>
              </a:ext>
            </a:extLst>
          </p:cNvPr>
          <p:cNvSpPr/>
          <p:nvPr/>
        </p:nvSpPr>
        <p:spPr>
          <a:xfrm>
            <a:off x="3488297" y="2649028"/>
            <a:ext cx="1972795" cy="753350"/>
          </a:xfrm>
          <a:prstGeom prst="rect">
            <a:avLst/>
          </a:prstGeom>
          <a:solidFill>
            <a:srgbClr val="6212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Port</a:t>
            </a:r>
          </a:p>
        </p:txBody>
      </p:sp>
    </p:spTree>
    <p:extLst>
      <p:ext uri="{BB962C8B-B14F-4D97-AF65-F5344CB8AC3E}">
        <p14:creationId xmlns:p14="http://schemas.microsoft.com/office/powerpoint/2010/main" val="2675477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32432" y="739266"/>
            <a:ext cx="526836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Inline v/s Block Elements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9EF860-9B6E-CECA-DAA7-38C06EC92D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72" y="2021606"/>
            <a:ext cx="7772400" cy="15729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931D73A-AC65-DC35-C48D-FB01B315C3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22" y="3985100"/>
            <a:ext cx="7772400" cy="76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85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32432" y="739266"/>
            <a:ext cx="526836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Inline v/s Block Elements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30B8E4-151E-CFB7-F8E5-52BEAEE693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52" y="1792440"/>
            <a:ext cx="7772400" cy="315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8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3" y="711835"/>
            <a:ext cx="320543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What are Lists?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Members List design concept | List design, Dashboard design, Web app design">
            <a:extLst>
              <a:ext uri="{FF2B5EF4-FFF2-40B4-BE49-F238E27FC236}">
                <a16:creationId xmlns:a16="http://schemas.microsoft.com/office/drawing/2014/main" id="{6C34E129-F190-BA9B-7B58-B8090F4CAA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0" t="31111" r="35000" b="17555"/>
          <a:stretch/>
        </p:blipFill>
        <p:spPr bwMode="auto">
          <a:xfrm>
            <a:off x="3336735" y="1828800"/>
            <a:ext cx="2467453" cy="422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8B0E161-4CBA-4437-A3D7-F16269B9B959}"/>
              </a:ext>
            </a:extLst>
          </p:cNvPr>
          <p:cNvSpPr txBox="1"/>
          <p:nvPr/>
        </p:nvSpPr>
        <p:spPr>
          <a:xfrm>
            <a:off x="1076972" y="1264285"/>
            <a:ext cx="453809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List of mobile numbers or list of emails!</a:t>
            </a:r>
          </a:p>
        </p:txBody>
      </p:sp>
    </p:spTree>
    <p:extLst>
      <p:ext uri="{BB962C8B-B14F-4D97-AF65-F5344CB8AC3E}">
        <p14:creationId xmlns:p14="http://schemas.microsoft.com/office/powerpoint/2010/main" val="2121564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3" y="711835"/>
            <a:ext cx="320543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Unordered List!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B72BF75-37CF-ABDC-CB69-386F57AA7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80" y="1543349"/>
            <a:ext cx="6146800" cy="800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41D9574-1975-6E4F-A8CA-00D9B925A2C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4" t="21821" b="21549"/>
          <a:stretch/>
        </p:blipFill>
        <p:spPr>
          <a:xfrm>
            <a:off x="862979" y="3857733"/>
            <a:ext cx="7255249" cy="1219201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AA98AC-731C-BAB2-FBB6-06DCE6A2362C}"/>
              </a:ext>
            </a:extLst>
          </p:cNvPr>
          <p:cNvSpPr/>
          <p:nvPr/>
        </p:nvSpPr>
        <p:spPr>
          <a:xfrm>
            <a:off x="1830323" y="2762942"/>
            <a:ext cx="1982723" cy="710492"/>
          </a:xfrm>
          <a:prstGeom prst="roundRect">
            <a:avLst/>
          </a:prstGeom>
          <a:solidFill>
            <a:srgbClr val="6212A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Children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95D509-2381-330B-34EE-FDE416C1C68E}"/>
              </a:ext>
            </a:extLst>
          </p:cNvPr>
          <p:cNvCxnSpPr>
            <a:cxnSpLocks/>
          </p:cNvCxnSpPr>
          <p:nvPr/>
        </p:nvCxnSpPr>
        <p:spPr>
          <a:xfrm flipH="1">
            <a:off x="1636647" y="3449665"/>
            <a:ext cx="1071117" cy="436535"/>
          </a:xfrm>
          <a:prstGeom prst="straightConnector1">
            <a:avLst/>
          </a:prstGeom>
          <a:ln>
            <a:solidFill>
              <a:srgbClr val="6212AA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CE2C7F-9699-B40D-DD64-4167E0803CA5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788109" y="2154474"/>
            <a:ext cx="1033576" cy="608468"/>
          </a:xfrm>
          <a:prstGeom prst="straightConnector1">
            <a:avLst/>
          </a:prstGeom>
          <a:ln>
            <a:solidFill>
              <a:srgbClr val="6212AA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481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3" y="711835"/>
            <a:ext cx="320543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Ordered List!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41D9574-1975-6E4F-A8CA-00D9B925A2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4" t="21821" b="21549"/>
          <a:stretch/>
        </p:blipFill>
        <p:spPr>
          <a:xfrm>
            <a:off x="862979" y="3857733"/>
            <a:ext cx="7255249" cy="1219201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AA98AC-731C-BAB2-FBB6-06DCE6A2362C}"/>
              </a:ext>
            </a:extLst>
          </p:cNvPr>
          <p:cNvSpPr/>
          <p:nvPr/>
        </p:nvSpPr>
        <p:spPr>
          <a:xfrm>
            <a:off x="1830323" y="2762942"/>
            <a:ext cx="1982723" cy="710492"/>
          </a:xfrm>
          <a:prstGeom prst="roundRect">
            <a:avLst/>
          </a:prstGeom>
          <a:solidFill>
            <a:srgbClr val="6212A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Children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95D509-2381-330B-34EE-FDE416C1C68E}"/>
              </a:ext>
            </a:extLst>
          </p:cNvPr>
          <p:cNvCxnSpPr>
            <a:cxnSpLocks/>
          </p:cNvCxnSpPr>
          <p:nvPr/>
        </p:nvCxnSpPr>
        <p:spPr>
          <a:xfrm flipH="1">
            <a:off x="1636647" y="3449665"/>
            <a:ext cx="1071117" cy="436535"/>
          </a:xfrm>
          <a:prstGeom prst="straightConnector1">
            <a:avLst/>
          </a:prstGeom>
          <a:ln>
            <a:solidFill>
              <a:srgbClr val="6212AA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8E57600E-9823-448B-E19B-C82499B0A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65" y="1413631"/>
            <a:ext cx="5473700" cy="6223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CE2C7F-9699-B40D-DD64-4167E0803CA5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636647" y="1931412"/>
            <a:ext cx="1185038" cy="831530"/>
          </a:xfrm>
          <a:prstGeom prst="straightConnector1">
            <a:avLst/>
          </a:prstGeom>
          <a:ln>
            <a:solidFill>
              <a:srgbClr val="6212AA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682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3" y="711835"/>
            <a:ext cx="320543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Attributes?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46550B-3359-14E4-45EC-451C245073AC}"/>
              </a:ext>
            </a:extLst>
          </p:cNvPr>
          <p:cNvSpPr txBox="1"/>
          <p:nvPr/>
        </p:nvSpPr>
        <p:spPr>
          <a:xfrm>
            <a:off x="1143000" y="1676400"/>
            <a:ext cx="5844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Key/s that we can write inside our tags.</a:t>
            </a:r>
          </a:p>
          <a:p>
            <a:pPr marL="285750" indent="-285750">
              <a:buFontTx/>
              <a:buChar char="-"/>
            </a:pPr>
            <a:r>
              <a:rPr lang="en-US" dirty="0"/>
              <a:t>Every element have their own attributes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Some tags may or may not have the same attributes.</a:t>
            </a:r>
          </a:p>
        </p:txBody>
      </p:sp>
    </p:spTree>
    <p:extLst>
      <p:ext uri="{BB962C8B-B14F-4D97-AF65-F5344CB8AC3E}">
        <p14:creationId xmlns:p14="http://schemas.microsoft.com/office/powerpoint/2010/main" val="3018455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2" y="711835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Attributes for &lt;ul&gt;?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46550B-3359-14E4-45EC-451C245073AC}"/>
              </a:ext>
            </a:extLst>
          </p:cNvPr>
          <p:cNvSpPr txBox="1"/>
          <p:nvPr/>
        </p:nvSpPr>
        <p:spPr>
          <a:xfrm>
            <a:off x="1143000" y="1676400"/>
            <a:ext cx="584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have type attribute for ul.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F0BB3EC-3F3A-FF9E-E45C-BDE996838B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83" y="2281386"/>
            <a:ext cx="3676047" cy="20066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0597C4-96E2-E69B-0994-525D0D20EF32}"/>
              </a:ext>
            </a:extLst>
          </p:cNvPr>
          <p:cNvSpPr txBox="1"/>
          <p:nvPr/>
        </p:nvSpPr>
        <p:spPr>
          <a:xfrm>
            <a:off x="1104883" y="4412744"/>
            <a:ext cx="5844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 can be</a:t>
            </a:r>
          </a:p>
          <a:p>
            <a:pPr marL="285750" indent="-285750">
              <a:buClr>
                <a:srgbClr val="6212AA"/>
              </a:buClr>
              <a:buFont typeface="Arial" panose="020B0604020202020204" pitchFamily="34" charset="0"/>
              <a:buChar char="•"/>
            </a:pPr>
            <a:r>
              <a:rPr lang="en-US" dirty="0"/>
              <a:t>disc (Default)</a:t>
            </a:r>
          </a:p>
          <a:p>
            <a:pPr marL="285750" indent="-285750">
              <a:buClr>
                <a:srgbClr val="6212AA"/>
              </a:buClr>
              <a:buFont typeface="Arial" panose="020B0604020202020204" pitchFamily="34" charset="0"/>
              <a:buChar char="•"/>
            </a:pPr>
            <a:r>
              <a:rPr lang="en-US" dirty="0"/>
              <a:t>circle </a:t>
            </a:r>
          </a:p>
          <a:p>
            <a:pPr marL="285750" indent="-285750">
              <a:buClr>
                <a:srgbClr val="6212AA"/>
              </a:buClr>
              <a:buFont typeface="Arial" panose="020B0604020202020204" pitchFamily="34" charset="0"/>
              <a:buChar char="•"/>
            </a:pPr>
            <a:r>
              <a:rPr lang="en-US" dirty="0"/>
              <a:t>square</a:t>
            </a:r>
          </a:p>
        </p:txBody>
      </p:sp>
    </p:spTree>
    <p:extLst>
      <p:ext uri="{BB962C8B-B14F-4D97-AF65-F5344CB8AC3E}">
        <p14:creationId xmlns:p14="http://schemas.microsoft.com/office/powerpoint/2010/main" val="94822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2" y="711835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Attributes for &lt;ol&gt;?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46550B-3359-14E4-45EC-451C245073AC}"/>
              </a:ext>
            </a:extLst>
          </p:cNvPr>
          <p:cNvSpPr txBox="1"/>
          <p:nvPr/>
        </p:nvSpPr>
        <p:spPr>
          <a:xfrm>
            <a:off x="1143000" y="1676400"/>
            <a:ext cx="584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have type and start attribute for ul.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0597C4-96E2-E69B-0994-525D0D20EF32}"/>
              </a:ext>
            </a:extLst>
          </p:cNvPr>
          <p:cNvSpPr txBox="1"/>
          <p:nvPr/>
        </p:nvSpPr>
        <p:spPr>
          <a:xfrm>
            <a:off x="1104883" y="4412744"/>
            <a:ext cx="58445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 can be</a:t>
            </a:r>
          </a:p>
          <a:p>
            <a:pPr marL="285750" indent="-285750">
              <a:buClr>
                <a:srgbClr val="6212AA"/>
              </a:buClr>
              <a:buFont typeface="Arial" panose="020B0604020202020204" pitchFamily="34" charset="0"/>
              <a:buChar char="•"/>
            </a:pPr>
            <a:r>
              <a:rPr lang="en-US" dirty="0"/>
              <a:t>1: Number (Default)</a:t>
            </a:r>
          </a:p>
          <a:p>
            <a:pPr marL="285750" indent="-285750">
              <a:buClr>
                <a:srgbClr val="6212AA"/>
              </a:buClr>
              <a:buFont typeface="Arial" panose="020B0604020202020204" pitchFamily="34" charset="0"/>
              <a:buChar char="•"/>
            </a:pPr>
            <a:r>
              <a:rPr lang="en-US" dirty="0"/>
              <a:t>A/a: Alphabet</a:t>
            </a:r>
          </a:p>
          <a:p>
            <a:pPr marL="285750" indent="-285750">
              <a:buClr>
                <a:srgbClr val="6212AA"/>
              </a:buClr>
              <a:buFont typeface="Arial" panose="020B0604020202020204" pitchFamily="34" charset="0"/>
              <a:buChar char="•"/>
            </a:pPr>
            <a:r>
              <a:rPr lang="en-US" dirty="0"/>
              <a:t>I/i: Roman</a:t>
            </a:r>
          </a:p>
          <a:p>
            <a:pPr marL="285750" indent="-285750">
              <a:buClr>
                <a:srgbClr val="6212AA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Clr>
                <a:srgbClr val="6212AA"/>
              </a:buClr>
            </a:pPr>
            <a:r>
              <a:rPr lang="en-US" dirty="0"/>
              <a:t>start is always an integer only.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54E533-E8C2-3D46-6F15-56707E2ED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999" y="2209800"/>
            <a:ext cx="3764338" cy="205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852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E575-D09C-A661-6D4B-4F1DD752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612BEB-1D7E-72D7-988E-E9181984BBDB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704CDC1-B9A6-7059-47FC-EAC381A221A1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9F8321-9BDD-F010-D908-75A181C9CE41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8751D01-E30C-D644-F3BC-C82418F53A6B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15C3BC4-36D9-1D61-5BB0-88EFC4070462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23841C4-70CF-05A1-A9A9-51384DEABB86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A091D1E-EC06-8FFF-5F1F-4EEC5E918D8B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4C2015A-FD9C-B5FF-BB44-8339E5B78437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D351938-3E6D-E717-456E-A33A1046B1A8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04ABDC-34B5-8097-B554-98130845AABD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45D56E9-DA5D-057F-CD99-BF2526EB1B02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E627369-AFC1-F8F7-5857-32589683D8BF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910DE07-7215-95F3-E38C-C4C9042F94D8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D19DAC2-B553-F3DD-A05A-89890AF6E5B9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D72F7D2-D916-DAAC-7D7F-2190E5A0B06E}"/>
              </a:ext>
            </a:extLst>
          </p:cNvPr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CC7A6CB-A763-7B2C-7C60-7FB558115CD7}"/>
              </a:ext>
            </a:extLst>
          </p:cNvPr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4E345F0-4E1F-D41E-024E-3451D76C7681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58E4BE1-8D06-E1B1-FADE-32FC15C4D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6859" y="3206824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LEARN TO GOOGLE!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FB9DC727-30F3-7A29-2E8A-60D57C82D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57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5B12-8C22-1271-92C6-C7F9A028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902A53-54A7-8EC9-732F-D7EFDD4D3797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CFE4388-0BFE-67EF-0246-4201BDB6EA9B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3FE02F-587C-3D60-2CA1-BEDCB6A4D53C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4E99C2C-1418-B244-B158-9964BCF63B14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7E5A296-C02A-D0F8-A80C-E76E2B3BE011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9BC030A-8403-245C-5AA3-E8FDF5191136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5D91A21-8711-AA53-737E-8A0910B8E380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1298A27-C937-F8C6-3B79-126FBD280AEE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76EB57C-1158-286B-48C9-ED24CF3E3A15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C5B8476-31CC-77D4-74F5-6DD13DF52599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B9762E0-F2C4-FA29-E6FF-7BFBCC7A06A6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21488EA-5D39-6AB2-2748-F37E53E142E8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36CCF1-8859-1445-648E-6AE9A36CF3EA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F4C2AA8-8E26-9AE2-E8E2-27DE789ACC33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FCB34B8-82EC-1B82-F668-98E9658F0D50}"/>
              </a:ext>
            </a:extLst>
          </p:cNvPr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5B88FC4-A91F-6D28-4A8F-94D90E34891E}"/>
              </a:ext>
            </a:extLst>
          </p:cNvPr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39EEDDE-AB50-59D6-7474-5AD7137A237F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6D477AC-8630-E60F-9739-02D7688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1962" y="3022495"/>
            <a:ext cx="4451151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TELL ME ABOUT TABLE TAG?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CB721968-5BFB-2F03-16CC-2CFD3C319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79C0079-B307-A9D8-E3A6-054C5743192A}"/>
              </a:ext>
            </a:extLst>
          </p:cNvPr>
          <p:cNvSpPr txBox="1"/>
          <p:nvPr/>
        </p:nvSpPr>
        <p:spPr>
          <a:xfrm>
            <a:off x="1143000" y="1676400"/>
            <a:ext cx="584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901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2" y="711835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&lt;table&gt; Tag?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A close-up of a computer code&#10;&#10;Description automatically generated">
            <a:extLst>
              <a:ext uri="{FF2B5EF4-FFF2-40B4-BE49-F238E27FC236}">
                <a16:creationId xmlns:a16="http://schemas.microsoft.com/office/drawing/2014/main" id="{C1F06DAF-AAAD-3224-9E9D-DDC0B14C1B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23" y="1812925"/>
            <a:ext cx="71628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13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2" y="711835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&lt;table&gt; Tag?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0F7245-BC8A-6D87-32EB-9C1E7577BEF6}"/>
              </a:ext>
            </a:extLst>
          </p:cNvPr>
          <p:cNvSpPr txBox="1"/>
          <p:nvPr/>
        </p:nvSpPr>
        <p:spPr>
          <a:xfrm>
            <a:off x="1295400" y="1676400"/>
            <a:ext cx="5411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&lt;thead&gt; and &lt;tbody&gt; Tags can have three children: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&lt;tr&gt;: Row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&lt;th&gt;: Heading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&lt;td&gt;: Data</a:t>
            </a:r>
          </a:p>
        </p:txBody>
      </p:sp>
    </p:spTree>
    <p:extLst>
      <p:ext uri="{BB962C8B-B14F-4D97-AF65-F5344CB8AC3E}">
        <p14:creationId xmlns:p14="http://schemas.microsoft.com/office/powerpoint/2010/main" val="385161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2" y="711835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&lt;table&gt; Tag?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diagram of a code&#10;&#10;Description automatically generated with medium confidence">
            <a:extLst>
              <a:ext uri="{FF2B5EF4-FFF2-40B4-BE49-F238E27FC236}">
                <a16:creationId xmlns:a16="http://schemas.microsoft.com/office/drawing/2014/main" id="{F913C731-DC5D-FF8D-1D6E-B5C20EF96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43" y="1296269"/>
            <a:ext cx="50419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347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2" y="711835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&lt;table&gt; Tag?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A diagram of a program&#10;&#10;Description automatically generated with medium confidence">
            <a:extLst>
              <a:ext uri="{FF2B5EF4-FFF2-40B4-BE49-F238E27FC236}">
                <a16:creationId xmlns:a16="http://schemas.microsoft.com/office/drawing/2014/main" id="{B7EBC55C-C1C1-63EE-7174-90436636DE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843" y="1410335"/>
            <a:ext cx="47625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70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BBF0-CE6B-934C-0577-BBFA377D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D81593-5E27-802E-296F-9AED940154F8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47850D-F6C6-0354-6BAE-32DFC51C9079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53B4430-34A3-C549-FB04-B74C726DC0DE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1B5DDFD-D73E-CEF3-46A4-D9BB37EAA4B8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18D240D-5F41-D951-C760-154DFF2CEEEA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EFCF510-4997-11FF-84FF-5D655DB8BFBD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D084143-5386-5055-F30C-40F3C8662576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8FC31EE-24F9-EC53-88FA-2E34710981B3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C9FA242-414F-165B-EB9C-05FADBA6B3A0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FFBF06B-CB23-E892-B912-6FD02B32CF09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C933A30-CFAB-55BA-51B9-9131FEA00946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0221539-0853-0ABB-C468-1F1D5B8023D0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33749C0-C726-772A-4EA7-1D0AC3748CF1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73168D1-04D8-5273-DE7E-449EE87126B7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5E2F7B9-3E63-221A-9D21-239C5E7E3EAE}"/>
              </a:ext>
            </a:extLst>
          </p:cNvPr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B938A1F-5C51-7BF9-906F-2149407436B9}"/>
              </a:ext>
            </a:extLst>
          </p:cNvPr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8599D9ED-C714-8E00-C713-09A20630C4BE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AF2BF31-87D2-4FB1-FDB9-B063A9D92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2462" y="711835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GOOGLE ME!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80A3CC24-1B62-47DD-8021-D325DC05D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object 20">
            <a:extLst>
              <a:ext uri="{FF2B5EF4-FFF2-40B4-BE49-F238E27FC236}">
                <a16:creationId xmlns:a16="http://schemas.microsoft.com/office/drawing/2014/main" id="{780D94DB-B5E4-93FB-A6C3-2368F072AE4A}"/>
              </a:ext>
            </a:extLst>
          </p:cNvPr>
          <p:cNvSpPr txBox="1">
            <a:spLocks/>
          </p:cNvSpPr>
          <p:nvPr/>
        </p:nvSpPr>
        <p:spPr>
          <a:xfrm>
            <a:off x="2346424" y="3015763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200" b="0" i="0">
                <a:solidFill>
                  <a:srgbClr val="BC5C45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2800" b="1" kern="0" spc="-10" dirty="0">
                <a:solidFill>
                  <a:srgbClr val="6212AA"/>
                </a:solidFill>
              </a:rPr>
              <a:t>TABLE ATTRIBUTES?</a:t>
            </a:r>
            <a:endParaRPr lang="en-US" sz="2800" b="1" kern="0" spc="-50" dirty="0">
              <a:solidFill>
                <a:srgbClr val="6212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843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12462" y="711835"/>
            <a:ext cx="445115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Mini Project!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5DE2E19E-27B0-CB66-FD2A-3B847CB0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69DEDEC-BCB5-CAEA-9AF9-8F5D8213B4DA}"/>
              </a:ext>
            </a:extLst>
          </p:cNvPr>
          <p:cNvGrpSpPr/>
          <p:nvPr/>
        </p:nvGrpSpPr>
        <p:grpSpPr>
          <a:xfrm>
            <a:off x="962279" y="1828800"/>
            <a:ext cx="6647052" cy="3533467"/>
            <a:chOff x="657053" y="1662266"/>
            <a:chExt cx="6647052" cy="3533467"/>
          </a:xfrm>
        </p:grpSpPr>
        <p:pic>
          <p:nvPicPr>
            <p:cNvPr id="24" name="Picture 23" descr="A white rectangular object with black text&#10;&#10;Description automatically generated">
              <a:extLst>
                <a:ext uri="{FF2B5EF4-FFF2-40B4-BE49-F238E27FC236}">
                  <a16:creationId xmlns:a16="http://schemas.microsoft.com/office/drawing/2014/main" id="{2DF6E3AD-7E6C-DFA9-E6AA-C12E0BA52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053" y="1662266"/>
              <a:ext cx="6647052" cy="3533467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42FCA6E-151E-1154-7AB6-0C82425D6BA9}"/>
                </a:ext>
              </a:extLst>
            </p:cNvPr>
            <p:cNvCxnSpPr/>
            <p:nvPr/>
          </p:nvCxnSpPr>
          <p:spPr>
            <a:xfrm>
              <a:off x="657053" y="5195733"/>
              <a:ext cx="66470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289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1F595-C6B2-035E-2A55-24B97B86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124085-569A-25C5-29EC-09C22667290C}"/>
              </a:ext>
            </a:extLst>
          </p:cNvPr>
          <p:cNvSpPr/>
          <p:nvPr/>
        </p:nvSpPr>
        <p:spPr>
          <a:xfrm>
            <a:off x="77723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705D24-091E-AA9B-D4D9-06E98EC5DFCE}"/>
              </a:ext>
            </a:extLst>
          </p:cNvPr>
          <p:cNvSpPr/>
          <p:nvPr/>
        </p:nvSpPr>
        <p:spPr>
          <a:xfrm>
            <a:off x="306324" y="0"/>
            <a:ext cx="193675" cy="6858000"/>
          </a:xfrm>
          <a:custGeom>
            <a:avLst/>
            <a:gdLst/>
            <a:ahLst/>
            <a:cxnLst/>
            <a:rect l="l" t="t" r="r" b="b"/>
            <a:pathLst>
              <a:path w="193675" h="6858000">
                <a:moveTo>
                  <a:pt x="0" y="6858000"/>
                </a:moveTo>
                <a:lnTo>
                  <a:pt x="193547" y="6858000"/>
                </a:lnTo>
                <a:lnTo>
                  <a:pt x="1935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D6B577A-3473-4226-ACCD-A3CD8499C88D}"/>
              </a:ext>
            </a:extLst>
          </p:cNvPr>
          <p:cNvSpPr/>
          <p:nvPr/>
        </p:nvSpPr>
        <p:spPr>
          <a:xfrm>
            <a:off x="1490472" y="0"/>
            <a:ext cx="1483360" cy="344805"/>
          </a:xfrm>
          <a:custGeom>
            <a:avLst/>
            <a:gdLst/>
            <a:ahLst/>
            <a:cxnLst/>
            <a:rect l="l" t="t" r="r" b="b"/>
            <a:pathLst>
              <a:path w="1483360" h="344805">
                <a:moveTo>
                  <a:pt x="0" y="344424"/>
                </a:moveTo>
                <a:lnTo>
                  <a:pt x="1482852" y="344424"/>
                </a:lnTo>
                <a:lnTo>
                  <a:pt x="1482852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39EE85A-2ABC-D79D-1DD8-668D8E3409DD}"/>
              </a:ext>
            </a:extLst>
          </p:cNvPr>
          <p:cNvSpPr/>
          <p:nvPr/>
        </p:nvSpPr>
        <p:spPr>
          <a:xfrm>
            <a:off x="1490472" y="6530340"/>
            <a:ext cx="1483360" cy="327660"/>
          </a:xfrm>
          <a:custGeom>
            <a:avLst/>
            <a:gdLst/>
            <a:ahLst/>
            <a:cxnLst/>
            <a:rect l="l" t="t" r="r" b="b"/>
            <a:pathLst>
              <a:path w="1483360" h="327659">
                <a:moveTo>
                  <a:pt x="0" y="327659"/>
                </a:moveTo>
                <a:lnTo>
                  <a:pt x="1482852" y="327659"/>
                </a:lnTo>
                <a:lnTo>
                  <a:pt x="1482852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055399D-F0CB-1DF1-DB87-A90B117B645A}"/>
              </a:ext>
            </a:extLst>
          </p:cNvPr>
          <p:cNvSpPr/>
          <p:nvPr/>
        </p:nvSpPr>
        <p:spPr>
          <a:xfrm>
            <a:off x="499872" y="0"/>
            <a:ext cx="228600" cy="344805"/>
          </a:xfrm>
          <a:custGeom>
            <a:avLst/>
            <a:gdLst/>
            <a:ahLst/>
            <a:cxnLst/>
            <a:rect l="l" t="t" r="r" b="b"/>
            <a:pathLst>
              <a:path w="228600" h="344805">
                <a:moveTo>
                  <a:pt x="0" y="344424"/>
                </a:moveTo>
                <a:lnTo>
                  <a:pt x="228600" y="344424"/>
                </a:lnTo>
                <a:lnTo>
                  <a:pt x="2286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0CE4F56-C19B-55F3-EA4E-D32EA82CEA05}"/>
              </a:ext>
            </a:extLst>
          </p:cNvPr>
          <p:cNvSpPr/>
          <p:nvPr/>
        </p:nvSpPr>
        <p:spPr>
          <a:xfrm>
            <a:off x="499872" y="6530340"/>
            <a:ext cx="228600" cy="327660"/>
          </a:xfrm>
          <a:custGeom>
            <a:avLst/>
            <a:gdLst/>
            <a:ahLst/>
            <a:cxnLst/>
            <a:rect l="l" t="t" r="r" b="b"/>
            <a:pathLst>
              <a:path w="228600" h="327659">
                <a:moveTo>
                  <a:pt x="0" y="327659"/>
                </a:moveTo>
                <a:lnTo>
                  <a:pt x="228600" y="327659"/>
                </a:lnTo>
                <a:lnTo>
                  <a:pt x="2286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98F89ED-3598-4E34-AB29-D74977EBB5B9}"/>
              </a:ext>
            </a:extLst>
          </p:cNvPr>
          <p:cNvSpPr/>
          <p:nvPr/>
        </p:nvSpPr>
        <p:spPr>
          <a:xfrm>
            <a:off x="728472" y="0"/>
            <a:ext cx="762000" cy="344805"/>
          </a:xfrm>
          <a:custGeom>
            <a:avLst/>
            <a:gdLst/>
            <a:ahLst/>
            <a:cxnLst/>
            <a:rect l="l" t="t" r="r" b="b"/>
            <a:pathLst>
              <a:path w="762000" h="344805">
                <a:moveTo>
                  <a:pt x="0" y="344424"/>
                </a:moveTo>
                <a:lnTo>
                  <a:pt x="762000" y="344424"/>
                </a:lnTo>
                <a:lnTo>
                  <a:pt x="762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603108A-D27B-46E8-B34B-D21779A45A3C}"/>
              </a:ext>
            </a:extLst>
          </p:cNvPr>
          <p:cNvSpPr/>
          <p:nvPr/>
        </p:nvSpPr>
        <p:spPr>
          <a:xfrm>
            <a:off x="728472" y="6530340"/>
            <a:ext cx="762000" cy="327660"/>
          </a:xfrm>
          <a:custGeom>
            <a:avLst/>
            <a:gdLst/>
            <a:ahLst/>
            <a:cxnLst/>
            <a:rect l="l" t="t" r="r" b="b"/>
            <a:pathLst>
              <a:path w="762000" h="327659">
                <a:moveTo>
                  <a:pt x="0" y="327659"/>
                </a:moveTo>
                <a:lnTo>
                  <a:pt x="762000" y="327659"/>
                </a:lnTo>
                <a:lnTo>
                  <a:pt x="762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4E04E6D-1C34-1D63-568C-88A6F49BCD93}"/>
              </a:ext>
            </a:extLst>
          </p:cNvPr>
          <p:cNvSpPr/>
          <p:nvPr/>
        </p:nvSpPr>
        <p:spPr>
          <a:xfrm>
            <a:off x="6707123" y="0"/>
            <a:ext cx="1524000" cy="344805"/>
          </a:xfrm>
          <a:custGeom>
            <a:avLst/>
            <a:gdLst/>
            <a:ahLst/>
            <a:cxnLst/>
            <a:rect l="l" t="t" r="r" b="b"/>
            <a:pathLst>
              <a:path w="1524000" h="344805">
                <a:moveTo>
                  <a:pt x="0" y="344424"/>
                </a:moveTo>
                <a:lnTo>
                  <a:pt x="1524000" y="344424"/>
                </a:lnTo>
                <a:lnTo>
                  <a:pt x="15240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B4D125B-FB82-987C-6657-CDF521111CCB}"/>
              </a:ext>
            </a:extLst>
          </p:cNvPr>
          <p:cNvSpPr/>
          <p:nvPr/>
        </p:nvSpPr>
        <p:spPr>
          <a:xfrm>
            <a:off x="6707123" y="6530340"/>
            <a:ext cx="1524000" cy="327660"/>
          </a:xfrm>
          <a:custGeom>
            <a:avLst/>
            <a:gdLst/>
            <a:ahLst/>
            <a:cxnLst/>
            <a:rect l="l" t="t" r="r" b="b"/>
            <a:pathLst>
              <a:path w="1524000" h="327659">
                <a:moveTo>
                  <a:pt x="0" y="327659"/>
                </a:moveTo>
                <a:lnTo>
                  <a:pt x="1524000" y="327659"/>
                </a:lnTo>
                <a:lnTo>
                  <a:pt x="15240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A5C5B4A-8D32-6567-807D-9EE5CEF807F4}"/>
              </a:ext>
            </a:extLst>
          </p:cNvPr>
          <p:cNvSpPr/>
          <p:nvPr/>
        </p:nvSpPr>
        <p:spPr>
          <a:xfrm>
            <a:off x="8993123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29" h="6858000">
                <a:moveTo>
                  <a:pt x="0" y="6857998"/>
                </a:moveTo>
                <a:lnTo>
                  <a:pt x="150875" y="6857998"/>
                </a:lnTo>
                <a:lnTo>
                  <a:pt x="150875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D8B0653-4FFF-E49B-A238-1B847A7DFD70}"/>
              </a:ext>
            </a:extLst>
          </p:cNvPr>
          <p:cNvSpPr/>
          <p:nvPr/>
        </p:nvSpPr>
        <p:spPr>
          <a:xfrm>
            <a:off x="8231123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8BB69AF-289B-1F03-BFD1-B74C27E67038}"/>
              </a:ext>
            </a:extLst>
          </p:cNvPr>
          <p:cNvSpPr/>
          <p:nvPr/>
        </p:nvSpPr>
        <p:spPr>
          <a:xfrm>
            <a:off x="3963923" y="0"/>
            <a:ext cx="2743200" cy="344805"/>
          </a:xfrm>
          <a:custGeom>
            <a:avLst/>
            <a:gdLst/>
            <a:ahLst/>
            <a:cxnLst/>
            <a:rect l="l" t="t" r="r" b="b"/>
            <a:pathLst>
              <a:path w="2743200" h="344805">
                <a:moveTo>
                  <a:pt x="0" y="344424"/>
                </a:moveTo>
                <a:lnTo>
                  <a:pt x="2743200" y="344424"/>
                </a:lnTo>
                <a:lnTo>
                  <a:pt x="2743200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DB6CC4C-EEF1-C0DD-1D66-CAD15EB3258C}"/>
              </a:ext>
            </a:extLst>
          </p:cNvPr>
          <p:cNvSpPr/>
          <p:nvPr/>
        </p:nvSpPr>
        <p:spPr>
          <a:xfrm>
            <a:off x="3963923" y="6530340"/>
            <a:ext cx="2743200" cy="327660"/>
          </a:xfrm>
          <a:custGeom>
            <a:avLst/>
            <a:gdLst/>
            <a:ahLst/>
            <a:cxnLst/>
            <a:rect l="l" t="t" r="r" b="b"/>
            <a:pathLst>
              <a:path w="2743200" h="327659">
                <a:moveTo>
                  <a:pt x="0" y="327659"/>
                </a:moveTo>
                <a:lnTo>
                  <a:pt x="2743200" y="327659"/>
                </a:lnTo>
                <a:lnTo>
                  <a:pt x="2743200" y="0"/>
                </a:lnTo>
                <a:lnTo>
                  <a:pt x="0" y="0"/>
                </a:lnTo>
                <a:lnTo>
                  <a:pt x="0" y="327659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82804FF-3238-2B23-A5E9-D35D76279469}"/>
              </a:ext>
            </a:extLst>
          </p:cNvPr>
          <p:cNvSpPr/>
          <p:nvPr/>
        </p:nvSpPr>
        <p:spPr>
          <a:xfrm>
            <a:off x="50292" y="0"/>
            <a:ext cx="9100058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A23A212-9E54-F73B-BB1A-2BEB05481CA4}"/>
              </a:ext>
            </a:extLst>
          </p:cNvPr>
          <p:cNvSpPr/>
          <p:nvPr/>
        </p:nvSpPr>
        <p:spPr>
          <a:xfrm>
            <a:off x="457200" y="367030"/>
            <a:ext cx="8229600" cy="6186170"/>
          </a:xfrm>
          <a:custGeom>
            <a:avLst/>
            <a:gdLst/>
            <a:ahLst/>
            <a:cxnLst/>
            <a:rect l="l" t="t" r="r" b="b"/>
            <a:pathLst>
              <a:path w="8229600" h="6186170">
                <a:moveTo>
                  <a:pt x="0" y="6185916"/>
                </a:moveTo>
                <a:lnTo>
                  <a:pt x="8229600" y="6185916"/>
                </a:lnTo>
                <a:lnTo>
                  <a:pt x="8229600" y="0"/>
                </a:lnTo>
                <a:lnTo>
                  <a:pt x="0" y="0"/>
                </a:lnTo>
                <a:lnTo>
                  <a:pt x="0" y="6185916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6212AA"/>
            </a:solidFill>
          </a:ln>
        </p:spPr>
        <p:txBody>
          <a:bodyPr wrap="square" lIns="0" tIns="0" rIns="0" bIns="0" rtlCol="0"/>
          <a:lstStyle/>
          <a:p>
            <a:endParaRPr lang="en-IN"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2A3E23F-17D4-60ED-3AE7-5FCD6F48B098}"/>
              </a:ext>
            </a:extLst>
          </p:cNvPr>
          <p:cNvSpPr/>
          <p:nvPr/>
        </p:nvSpPr>
        <p:spPr>
          <a:xfrm>
            <a:off x="6987540" y="5852159"/>
            <a:ext cx="1243583" cy="368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A3278DF-1BCF-4998-061E-AC9D9FEF04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786" y="723822"/>
            <a:ext cx="689018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spc="-10" dirty="0">
                <a:solidFill>
                  <a:srgbClr val="6212AA"/>
                </a:solidFill>
              </a:rPr>
              <a:t>DON’T Take WEB-DEV like DSA!</a:t>
            </a:r>
            <a:endParaRPr sz="2800" b="1" spc="-50" dirty="0">
              <a:solidFill>
                <a:srgbClr val="6212AA"/>
              </a:solidFill>
            </a:endParaRPr>
          </a:p>
        </p:txBody>
      </p:sp>
      <p:pic>
        <p:nvPicPr>
          <p:cNvPr id="5126" name="Picture 6" descr="HTML5 Icon in Social Media &amp; Logos">
            <a:extLst>
              <a:ext uri="{FF2B5EF4-FFF2-40B4-BE49-F238E27FC236}">
                <a16:creationId xmlns:a16="http://schemas.microsoft.com/office/drawing/2014/main" id="{A3F3A553-87A7-EADA-2BBB-5FF5A1E39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80" y="379017"/>
            <a:ext cx="1552395" cy="1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D41731-0ECB-15BE-9694-D4BC2D92372E}"/>
              </a:ext>
            </a:extLst>
          </p:cNvPr>
          <p:cNvSpPr txBox="1"/>
          <p:nvPr/>
        </p:nvSpPr>
        <p:spPr>
          <a:xfrm>
            <a:off x="923056" y="1371600"/>
            <a:ext cx="6159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spc="-10" dirty="0"/>
              <a:t>You don’t need to know everything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pc="-10" dirty="0"/>
              <a:t>But you need to know</a:t>
            </a:r>
            <a:r>
              <a:rPr lang="en-US" sz="1800" b="1" spc="-10" dirty="0"/>
              <a:t> how to google it!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757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8600" y="0"/>
            <a:ext cx="195580" cy="6858000"/>
          </a:xfrm>
          <a:custGeom>
            <a:avLst/>
            <a:gdLst/>
            <a:ahLst/>
            <a:cxnLst/>
            <a:rect l="l" t="t" r="r" b="b"/>
            <a:pathLst>
              <a:path w="195579" h="6858000">
                <a:moveTo>
                  <a:pt x="0" y="6858000"/>
                </a:moveTo>
                <a:lnTo>
                  <a:pt x="195072" y="6858000"/>
                </a:lnTo>
                <a:lnTo>
                  <a:pt x="19507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14272" y="0"/>
            <a:ext cx="1481455" cy="601980"/>
          </a:xfrm>
          <a:custGeom>
            <a:avLst/>
            <a:gdLst/>
            <a:ahLst/>
            <a:cxnLst/>
            <a:rect l="l" t="t" r="r" b="b"/>
            <a:pathLst>
              <a:path w="1481455" h="601980">
                <a:moveTo>
                  <a:pt x="0" y="601980"/>
                </a:moveTo>
                <a:lnTo>
                  <a:pt x="1481328" y="601980"/>
                </a:lnTo>
                <a:lnTo>
                  <a:pt x="1481328" y="0"/>
                </a:lnTo>
                <a:lnTo>
                  <a:pt x="0" y="0"/>
                </a:lnTo>
                <a:lnTo>
                  <a:pt x="0" y="60198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14272" y="6249923"/>
            <a:ext cx="1481455" cy="608330"/>
          </a:xfrm>
          <a:custGeom>
            <a:avLst/>
            <a:gdLst/>
            <a:ahLst/>
            <a:cxnLst/>
            <a:rect l="l" t="t" r="r" b="b"/>
            <a:pathLst>
              <a:path w="1481455" h="608329">
                <a:moveTo>
                  <a:pt x="0" y="608075"/>
                </a:moveTo>
                <a:lnTo>
                  <a:pt x="1481328" y="608075"/>
                </a:lnTo>
                <a:lnTo>
                  <a:pt x="1481328" y="0"/>
                </a:lnTo>
                <a:lnTo>
                  <a:pt x="0" y="0"/>
                </a:lnTo>
                <a:lnTo>
                  <a:pt x="0" y="608075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3672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2272" y="0"/>
            <a:ext cx="762000" cy="6858000"/>
          </a:xfrm>
          <a:custGeom>
            <a:avLst/>
            <a:gdLst/>
            <a:ahLst/>
            <a:cxnLst/>
            <a:rect l="l" t="t" r="r" b="b"/>
            <a:pathLst>
              <a:path w="762000" h="6858000">
                <a:moveTo>
                  <a:pt x="0" y="6858000"/>
                </a:moveTo>
                <a:lnTo>
                  <a:pt x="762000" y="6858000"/>
                </a:lnTo>
                <a:lnTo>
                  <a:pt x="76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9400" y="6249923"/>
            <a:ext cx="1524000" cy="608330"/>
          </a:xfrm>
          <a:custGeom>
            <a:avLst/>
            <a:gdLst/>
            <a:ahLst/>
            <a:cxnLst/>
            <a:rect l="l" t="t" r="r" b="b"/>
            <a:pathLst>
              <a:path w="1524000" h="608329">
                <a:moveTo>
                  <a:pt x="0" y="608075"/>
                </a:moveTo>
                <a:lnTo>
                  <a:pt x="1524000" y="608075"/>
                </a:lnTo>
                <a:lnTo>
                  <a:pt x="1524000" y="0"/>
                </a:lnTo>
                <a:lnTo>
                  <a:pt x="0" y="0"/>
                </a:lnTo>
                <a:lnTo>
                  <a:pt x="0" y="608075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-6350" y="267319"/>
            <a:ext cx="9156700" cy="686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61332" y="0"/>
            <a:ext cx="3679190" cy="6250305"/>
          </a:xfrm>
          <a:custGeom>
            <a:avLst/>
            <a:gdLst/>
            <a:ahLst/>
            <a:cxnLst/>
            <a:rect l="l" t="t" r="r" b="b"/>
            <a:pathLst>
              <a:path w="3679190" h="6250305">
                <a:moveTo>
                  <a:pt x="0" y="6249924"/>
                </a:moveTo>
                <a:lnTo>
                  <a:pt x="3678936" y="6249924"/>
                </a:lnTo>
                <a:lnTo>
                  <a:pt x="3678936" y="0"/>
                </a:lnTo>
                <a:lnTo>
                  <a:pt x="0" y="0"/>
                </a:lnTo>
                <a:lnTo>
                  <a:pt x="0" y="624992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1332" y="0"/>
            <a:ext cx="3679190" cy="6250305"/>
          </a:xfrm>
          <a:custGeom>
            <a:avLst/>
            <a:gdLst/>
            <a:ahLst/>
            <a:cxnLst/>
            <a:rect l="l" t="t" r="r" b="b"/>
            <a:pathLst>
              <a:path w="3679190" h="6250305">
                <a:moveTo>
                  <a:pt x="0" y="6249924"/>
                </a:moveTo>
                <a:lnTo>
                  <a:pt x="3678936" y="6249924"/>
                </a:lnTo>
                <a:lnTo>
                  <a:pt x="3678936" y="0"/>
                </a:lnTo>
              </a:path>
            </a:pathLst>
          </a:custGeom>
          <a:ln w="15240">
            <a:solidFill>
              <a:srgbClr val="7A7A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61332" y="0"/>
            <a:ext cx="0" cy="6250305"/>
          </a:xfrm>
          <a:custGeom>
            <a:avLst/>
            <a:gdLst/>
            <a:ahLst/>
            <a:cxnLst/>
            <a:rect l="l" t="t" r="r" b="b"/>
            <a:pathLst>
              <a:path h="6250305">
                <a:moveTo>
                  <a:pt x="0" y="0"/>
                </a:moveTo>
                <a:lnTo>
                  <a:pt x="0" y="6249924"/>
                </a:lnTo>
              </a:path>
            </a:pathLst>
          </a:custGeom>
          <a:ln w="15240">
            <a:solidFill>
              <a:srgbClr val="7A7A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49723" y="0"/>
            <a:ext cx="3505200" cy="2292350"/>
          </a:xfrm>
          <a:custGeom>
            <a:avLst/>
            <a:gdLst/>
            <a:ahLst/>
            <a:cxnLst/>
            <a:rect l="l" t="t" r="r" b="b"/>
            <a:pathLst>
              <a:path w="3505200" h="2292350">
                <a:moveTo>
                  <a:pt x="0" y="2292096"/>
                </a:moveTo>
                <a:lnTo>
                  <a:pt x="3505200" y="2292096"/>
                </a:lnTo>
                <a:lnTo>
                  <a:pt x="3505200" y="0"/>
                </a:lnTo>
                <a:lnTo>
                  <a:pt x="0" y="0"/>
                </a:lnTo>
                <a:lnTo>
                  <a:pt x="0" y="2292096"/>
                </a:lnTo>
                <a:close/>
              </a:path>
            </a:pathLst>
          </a:custGeom>
          <a:solidFill>
            <a:srgbClr val="6212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49723" y="6097523"/>
            <a:ext cx="3505200" cy="132715"/>
          </a:xfrm>
          <a:custGeom>
            <a:avLst/>
            <a:gdLst/>
            <a:ahLst/>
            <a:cxnLst/>
            <a:rect l="l" t="t" r="r" b="b"/>
            <a:pathLst>
              <a:path w="3505200" h="132714">
                <a:moveTo>
                  <a:pt x="0" y="132587"/>
                </a:moveTo>
                <a:lnTo>
                  <a:pt x="3505200" y="132587"/>
                </a:lnTo>
                <a:lnTo>
                  <a:pt x="3505200" y="0"/>
                </a:lnTo>
                <a:lnTo>
                  <a:pt x="0" y="0"/>
                </a:lnTo>
                <a:lnTo>
                  <a:pt x="0" y="132587"/>
                </a:lnTo>
                <a:close/>
              </a:path>
            </a:pathLst>
          </a:custGeom>
          <a:solidFill>
            <a:srgbClr val="6212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81371" y="615695"/>
            <a:ext cx="2759964" cy="1149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12919" y="3350717"/>
            <a:ext cx="281686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500" dirty="0">
                <a:solidFill>
                  <a:srgbClr val="6212AA"/>
                </a:solidFill>
                <a:latin typeface="Verdana"/>
                <a:cs typeface="Verdana"/>
              </a:rPr>
              <a:t>Thankyou!</a:t>
            </a:r>
            <a:endParaRPr sz="2500" dirty="0">
              <a:solidFill>
                <a:srgbClr val="6212AA"/>
              </a:solidFill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3200" y="5748020"/>
            <a:ext cx="13836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400">
                <a:latin typeface="Verdana"/>
                <a:cs typeface="Verdana"/>
              </a:rPr>
              <a:t>Kartik Mathur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9FE03E-2D02-E3E7-399B-90486973D2ED}"/>
              </a:ext>
            </a:extLst>
          </p:cNvPr>
          <p:cNvGrpSpPr/>
          <p:nvPr/>
        </p:nvGrpSpPr>
        <p:grpSpPr>
          <a:xfrm>
            <a:off x="239017" y="493217"/>
            <a:ext cx="4233925" cy="5714999"/>
            <a:chOff x="545336" y="685801"/>
            <a:chExt cx="3923539" cy="5181600"/>
          </a:xfrm>
        </p:grpSpPr>
        <p:sp>
          <p:nvSpPr>
            <p:cNvPr id="14" name="object 14"/>
            <p:cNvSpPr/>
            <p:nvPr/>
          </p:nvSpPr>
          <p:spPr>
            <a:xfrm>
              <a:off x="545337" y="685801"/>
              <a:ext cx="3923538" cy="5181600"/>
            </a:xfrm>
            <a:custGeom>
              <a:avLst/>
              <a:gdLst/>
              <a:ahLst/>
              <a:cxnLst/>
              <a:rect l="l" t="t" r="r" b="b"/>
              <a:pathLst>
                <a:path w="3563620" h="5648325">
                  <a:moveTo>
                    <a:pt x="0" y="5647944"/>
                  </a:moveTo>
                  <a:lnTo>
                    <a:pt x="3563112" y="5647944"/>
                  </a:lnTo>
                  <a:lnTo>
                    <a:pt x="3563112" y="0"/>
                  </a:lnTo>
                  <a:lnTo>
                    <a:pt x="0" y="0"/>
                  </a:lnTo>
                  <a:lnTo>
                    <a:pt x="0" y="56479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45336" y="685801"/>
              <a:ext cx="3911221" cy="5181600"/>
            </a:xfrm>
            <a:custGeom>
              <a:avLst/>
              <a:gdLst/>
              <a:ahLst/>
              <a:cxnLst/>
              <a:rect l="l" t="t" r="r" b="b"/>
              <a:pathLst>
                <a:path w="3563620" h="5648325">
                  <a:moveTo>
                    <a:pt x="0" y="5647944"/>
                  </a:moveTo>
                  <a:lnTo>
                    <a:pt x="3563112" y="5647944"/>
                  </a:lnTo>
                  <a:lnTo>
                    <a:pt x="3563112" y="0"/>
                  </a:lnTo>
                  <a:lnTo>
                    <a:pt x="0" y="0"/>
                  </a:lnTo>
                  <a:lnTo>
                    <a:pt x="0" y="56479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D603377-56FC-B050-C96D-9A3014842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2272" y="793494"/>
              <a:ext cx="3715895" cy="49545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631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2060</TotalTime>
  <Words>398</Words>
  <Application>Microsoft Macintosh PowerPoint</Application>
  <PresentationFormat>On-screen Show (4:3)</PresentationFormat>
  <Paragraphs>100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Courier New</vt:lpstr>
      <vt:lpstr>Verdana</vt:lpstr>
      <vt:lpstr>Wingdings</vt:lpstr>
      <vt:lpstr>Office Theme</vt:lpstr>
      <vt:lpstr>Lecture-1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 Heading Tags</vt:lpstr>
      <vt:lpstr>HTML Heading Tags</vt:lpstr>
      <vt:lpstr>Paragraph Tag</vt:lpstr>
      <vt:lpstr>Paragraph Tag</vt:lpstr>
      <vt:lpstr>What is View Port?</vt:lpstr>
      <vt:lpstr>PowerPoint Presentation</vt:lpstr>
      <vt:lpstr>Inline v/s Block Elements</vt:lpstr>
      <vt:lpstr>Inline v/s Block Elements</vt:lpstr>
      <vt:lpstr>What are Lists?</vt:lpstr>
      <vt:lpstr>Unordered List!</vt:lpstr>
      <vt:lpstr>Ordered List!</vt:lpstr>
      <vt:lpstr>Attributes?</vt:lpstr>
      <vt:lpstr>Attributes for &lt;ul&gt;?</vt:lpstr>
      <vt:lpstr>Attributes for &lt;ol&gt;?</vt:lpstr>
      <vt:lpstr>LEARN TO GOOGLE!</vt:lpstr>
      <vt:lpstr>TELL ME ABOUT TABLE TAG?</vt:lpstr>
      <vt:lpstr>&lt;table&gt; Tag?</vt:lpstr>
      <vt:lpstr>&lt;table&gt; Tag?</vt:lpstr>
      <vt:lpstr>&lt;table&gt; Tag?</vt:lpstr>
      <vt:lpstr>&lt;table&gt; Tag?</vt:lpstr>
      <vt:lpstr>GOOGLE ME!</vt:lpstr>
      <vt:lpstr>Mini Project!</vt:lpstr>
      <vt:lpstr>DON’T Take WEB-DEV like DSA!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Anushray Gupta</dc:creator>
  <cp:lastModifiedBy>Kartik Mathur</cp:lastModifiedBy>
  <cp:revision>21</cp:revision>
  <dcterms:created xsi:type="dcterms:W3CDTF">2018-06-12T11:04:22Z</dcterms:created>
  <dcterms:modified xsi:type="dcterms:W3CDTF">2025-01-11T19:37:12Z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2017-08-20T00:00:00Z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2018-06-12T00:00:00Z</vt:filetime>
  </property>
</Properties>
</file>